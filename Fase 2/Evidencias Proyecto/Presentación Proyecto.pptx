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Click to move the slide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FF8C72C-2E0F-437B-B657-8FA7FA4DDB48}" type="slidenum"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C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PRESENTA: ALVARO. Es una entrega de avance, no del juego terminado. Presentar brevemente Directiva como proyecto APT del equipo Apeiron.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Logo suministrado por el equipo, extraido del documento de avance.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B794137-421E-4C4A-815E-9E647ACCBB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PRESENTA: ALVARO. Introducir brevemente las secciones. Qué es Directiva, metodología y dirección visual a cargo de Alvaro. Herramientas y arquitectura por Ángel. En la demo Ángel explica mientras Alvaro opera el build. Cierre compartido.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16C869-0C0D-4AAD-B69B-D9958244BC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PRESENTA: ALVARO. Explicar idea de juego, no confundirla con alcance implementado. DScript y simulación son la meta jugable. La versión actual ejecuta DIL en la VM. En Fase 1 se llamaban Agentes; ahora se denominan Unidades para evitar confusión con agentes de inteligencia artificial.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Documentos 1.5 y 2.6 adjuntos.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B817AD-F413-4CB9-B234-45E8BF52E2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PRESENTA: ALVARO. Cinco ideas a mencionar: (1) Scrum adaptado a dos personas. (2) Sprints semanales con planificación, ejecución y revisión. (3) Roles diferenciados. (4) Seguimiento con Product Backlog, Scrumboard, Gantt, reuniones y GitHub. (5) Replanificación según complejidad real. El lenguaje requirió más tiempo y se desglosó en seis subtareas. Playtests con público se programarán al haber experiencia jugable con DScript.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Registros de sprint y resumen técnico semanal (14/10/2026).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4D0A11-17AE-4819-9DDF-2201075D62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PRESENTA: ALVARO. Comentar la identidad visual y cómo los mockups evolucionaron a interfaces funcionales. Capturas reales del menú y editor. El logotipo y el icono corresponden a la documentación del proyecto. Aclarar que la selección de niveles no significa que todos los niveles sean jugables.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Informe Fase 2, medios incrustados y capturas del ZIP de evidencias entregadas por el equipo.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B81E0E-35D8-4851-BB2F-027BA39BCE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PRESENTA: ALVARO. Armagetron como referencia de geometría, arena abstracta y alto contraste; Gladiabots para la programación indirecta de unidades y la observación/iteración. Directiva apostará por código textual, no por programación visual tipo Gladiabots. Los dos esquemas son ilustraciones conceptuales de elaboración propia, no capturas oficiales.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https://www.armagetronad.org/screenshots.php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https://presskit.gladiabots.com/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CB7CA2D-F890-4FF7-A0F7-6E67F7CA88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PRESENTA: ÁNGEL. Unity 6 como entorno de videojuego y builds Windows/Linux; C# como base de la máquina virtual; UI Toolkit en el editor; GitHub para repositorio y trazabilidad; Excalidraw para prototipos de interfaz; Product Backlog y Gantt para seguimiento. Mencionar Visual Studio como editor de C# si surge una pregunta, sin saturar la diapositiva.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12290A1-996E-4744-BD4F-95EC1BC464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PRESENTA: ÁNGEL. Arquitectura modular: UI, compilación, VM y simulación desacopladas. Ruta operativa: editor usa temporalmente archivos DIL; parser y VM procesan y ejecutan con consola. Ruta prevista: usuario escribe DScript -&gt; compilador -&gt; DIL -&gt; VM -&gt; acciones en simulación. Estado: compilador DScript en desarrollo; simulación y orquestador por integrar con runtime. No afirmar que el juego se encuentra jugable.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Informe Fase 2 y registros de sprint proporcionados por el equipo.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AB8F9F-5B60-4D61-805B-510DFC3618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DEMO: ÁNGEL narra y ALVARO opera el build en su computador. Recorrido sugerido: abrir juego, mostrar menú y opciones, navegar a escena, abrir editor, cargar .dil y ejecutar prueba de números primos; explicar salida en consola y mensajes de error. Imagen de respaldo por si hay un fallo en el equipo. Builds publicadas para Windows y Linux por el equipo. IMPORTANTE: DScript y simulación jugable aún no listos.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Enlace de builds: https://drive.google.com/drive/folders/1VGI6bgmhtsIIRIUZQDqip8HhcSWt5DvS?usp=sharing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F37FA33-FC47-4D84-B761-5AA163A077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PRESENTAN: ÁNGEL y, si lo desea, ALVARO. Separar lo implementado de lo pendiente: no se afirma un juego terminado. Hitos siguientes: compilador DScript-&gt;DIL, completar tipos/referencias, integrar simulación de unidades y Nexo y hacer playtests una vez disponible un ciclo jugable.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Informe Fase 2 y registros de sprint.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346845C-65A3-4C5C-B60F-7A1CC14B69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s-CL" sz="18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Click to edit the title text format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L" sz="32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L" sz="24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L" sz="20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L" sz="20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L" sz="20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L" sz="20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L" sz="20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32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Click to edit the outline text format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L" sz="24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Second Outline Level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Third Outline Level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L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Fourth Outline Level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Fifth Outline Level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Sixth Outline Level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Seventh Outline Level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B162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 rot="1320000">
            <a:off x="9162360" y="548640"/>
            <a:ext cx="2559600" cy="3199680"/>
          </a:xfrm>
          <a:prstGeom prst="triangle">
            <a:avLst>
              <a:gd name="adj" fmla="val 50000"/>
            </a:avLst>
          </a:prstGeom>
          <a:solidFill>
            <a:srgbClr val="4247DB">
              <a:alpha val="91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 rot="11520000">
            <a:off x="9162720" y="3091320"/>
            <a:ext cx="2056680" cy="1782360"/>
          </a:xfrm>
          <a:prstGeom prst="triangle">
            <a:avLst>
              <a:gd name="adj" fmla="val 50000"/>
            </a:avLst>
          </a:prstGeom>
          <a:solidFill>
            <a:srgbClr val="697EFF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10588680" y="914400"/>
            <a:ext cx="447480" cy="794880"/>
          </a:xfrm>
          <a:prstGeom prst="diamond">
            <a:avLst/>
          </a:prstGeom>
          <a:solidFill>
            <a:srgbClr val="B6E43B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/mnt/data/directiva_ppt_work/assets/directiva_logo_white.png"/>
          <p:cNvPicPr/>
          <p:nvPr/>
        </p:nvPicPr>
        <p:blipFill>
          <a:blip r:embed="rId1"/>
          <a:stretch/>
        </p:blipFill>
        <p:spPr>
          <a:xfrm>
            <a:off x="723600" y="1581840"/>
            <a:ext cx="7933680" cy="12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4"/>
          <p:cNvSpPr/>
          <p:nvPr/>
        </p:nvSpPr>
        <p:spPr>
          <a:xfrm>
            <a:off x="768240" y="3337560"/>
            <a:ext cx="8228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5F8FA"/>
                </a:solidFill>
                <a:effectLst/>
                <a:uFillTx/>
                <a:latin typeface="Inter Display"/>
                <a:ea typeface="Inter Display"/>
              </a:rPr>
              <a:t>AVANCE DEL PROYECTO / FASE 2</a:t>
            </a:r>
            <a:endParaRPr lang="es-CL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777240" y="3986640"/>
            <a:ext cx="804600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Estrategia  /  automatización  /  programación</a:t>
            </a:r>
            <a:endParaRPr lang="es-CL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767880" y="4782240"/>
            <a:ext cx="7068240" cy="360"/>
          </a:xfrm>
          <a:prstGeom prst="line">
            <a:avLst/>
          </a:prstGeom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777240" y="5020200"/>
            <a:ext cx="7680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Álvaro Castro  /  Ángel Rojas</a:t>
            </a:r>
            <a:endParaRPr lang="es-CL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777240" y="5495400"/>
            <a:ext cx="4388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B6E43B"/>
                </a:solidFill>
                <a:effectLst/>
                <a:uFillTx/>
                <a:latin typeface="Inter"/>
                <a:ea typeface="Inter"/>
              </a:rPr>
              <a:t>14 OCTUBRE 2026</a:t>
            </a:r>
            <a:endParaRPr lang="es-C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B162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640080" y="347400"/>
            <a:ext cx="383760" cy="360"/>
          </a:xfrm>
          <a:prstGeom prst="line">
            <a:avLst/>
          </a:prstGeom>
          <a:ln w="38100">
            <a:solidFill>
              <a:srgbClr val="B6E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124640" y="210240"/>
            <a:ext cx="7268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pc="130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RUTA DE LA PRESENTACIÓN</a:t>
            </a:r>
            <a:endParaRPr lang="es-CL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9665280" y="164520"/>
            <a:ext cx="1800720" cy="328320"/>
          </a:xfrm>
          <a:prstGeom prst="roundRect">
            <a:avLst>
              <a:gd name="adj" fmla="val 33333"/>
            </a:avLst>
          </a:prstGeom>
          <a:solidFill>
            <a:srgbClr val="213C3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9711000" y="219600"/>
            <a:ext cx="1709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pc="51" strike="noStrike">
                <a:solidFill>
                  <a:srgbClr val="B6E43B"/>
                </a:solidFill>
                <a:effectLst/>
                <a:uFillTx/>
                <a:latin typeface="Inter"/>
                <a:ea typeface="Inter"/>
              </a:rPr>
              <a:t>ÁLVARO</a:t>
            </a:r>
            <a:endParaRPr lang="es-CL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640080" y="6492240"/>
            <a:ext cx="10917720" cy="360"/>
          </a:xfrm>
          <a:prstGeom prst="line">
            <a:avLst/>
          </a:prstGeom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649080" y="6546960"/>
            <a:ext cx="54856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99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DIRECTIVA / CAPSTONE / FASE 2</a:t>
            </a:r>
            <a:endParaRPr lang="es-CL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10707480" y="6546960"/>
            <a:ext cx="7855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A8BAC5"/>
                </a:solidFill>
                <a:effectLst/>
                <a:uFillTx/>
                <a:latin typeface="DejaVu Sans Mono"/>
                <a:ea typeface="DejaVu Sans Mono"/>
              </a:rPr>
              <a:t>02 / 10</a:t>
            </a:r>
            <a:endParaRPr lang="es-CL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640080" y="704160"/>
            <a:ext cx="108806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5F8FA"/>
                </a:solidFill>
                <a:effectLst/>
                <a:uFillTx/>
                <a:latin typeface="Inter Display"/>
                <a:ea typeface="Inter Display"/>
              </a:rPr>
              <a:t>Qué mostraremos hoy</a:t>
            </a:r>
            <a:endParaRPr lang="es-CL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649080" y="1252800"/>
            <a:ext cx="10880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De la idea inicial a la demostración del prototipo</a:t>
            </a:r>
            <a:endParaRPr lang="es-C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0"/>
          <p:cNvSpPr/>
          <p:nvPr/>
        </p:nvSpPr>
        <p:spPr>
          <a:xfrm>
            <a:off x="704160" y="1792080"/>
            <a:ext cx="5138280" cy="849600"/>
          </a:xfrm>
          <a:prstGeom prst="roundRect">
            <a:avLst>
              <a:gd name="adj" fmla="val 12903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850320" y="1920240"/>
            <a:ext cx="66672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B6E43B"/>
                </a:solidFill>
                <a:effectLst/>
                <a:uFillTx/>
                <a:latin typeface="DejaVu Sans Mono"/>
                <a:ea typeface="DejaVu Sans Mono"/>
              </a:rPr>
              <a:t>01</a:t>
            </a:r>
            <a:endParaRPr lang="es-CL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1618560" y="1892880"/>
            <a:ext cx="39769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1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¿Qué es Directiva?</a:t>
            </a:r>
            <a:endParaRPr lang="es-CL" sz="1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1636920" y="2359080"/>
            <a:ext cx="36568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pc="71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ÁLVARO</a:t>
            </a:r>
            <a:endParaRPr lang="es-CL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4"/>
          <p:cNvSpPr/>
          <p:nvPr/>
        </p:nvSpPr>
        <p:spPr>
          <a:xfrm>
            <a:off x="704160" y="2853000"/>
            <a:ext cx="5138280" cy="849600"/>
          </a:xfrm>
          <a:prstGeom prst="roundRect">
            <a:avLst>
              <a:gd name="adj" fmla="val 12903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850320" y="2980800"/>
            <a:ext cx="66672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B6E43B"/>
                </a:solidFill>
                <a:effectLst/>
                <a:uFillTx/>
                <a:latin typeface="DejaVu Sans Mono"/>
                <a:ea typeface="DejaVu Sans Mono"/>
              </a:rPr>
              <a:t>02</a:t>
            </a:r>
            <a:endParaRPr lang="es-CL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1618560" y="2953440"/>
            <a:ext cx="39769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1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Metodología</a:t>
            </a:r>
            <a:endParaRPr lang="es-CL" sz="1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7"/>
          <p:cNvSpPr/>
          <p:nvPr/>
        </p:nvSpPr>
        <p:spPr>
          <a:xfrm>
            <a:off x="1636920" y="3420000"/>
            <a:ext cx="36568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pc="71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ÁLVARO</a:t>
            </a:r>
            <a:endParaRPr lang="es-CL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8"/>
          <p:cNvSpPr/>
          <p:nvPr/>
        </p:nvSpPr>
        <p:spPr>
          <a:xfrm>
            <a:off x="704160" y="3913560"/>
            <a:ext cx="5138280" cy="849600"/>
          </a:xfrm>
          <a:prstGeom prst="roundRect">
            <a:avLst>
              <a:gd name="adj" fmla="val 12903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9"/>
          <p:cNvSpPr/>
          <p:nvPr/>
        </p:nvSpPr>
        <p:spPr>
          <a:xfrm>
            <a:off x="850320" y="4041720"/>
            <a:ext cx="66672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B6E43B"/>
                </a:solidFill>
                <a:effectLst/>
                <a:uFillTx/>
                <a:latin typeface="DejaVu Sans Mono"/>
                <a:ea typeface="DejaVu Sans Mono"/>
              </a:rPr>
              <a:t>03</a:t>
            </a:r>
            <a:endParaRPr lang="es-CL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1618560" y="4014360"/>
            <a:ext cx="39769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1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Dirección visual</a:t>
            </a:r>
            <a:endParaRPr lang="es-CL" sz="1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1"/>
          <p:cNvSpPr/>
          <p:nvPr/>
        </p:nvSpPr>
        <p:spPr>
          <a:xfrm>
            <a:off x="1636920" y="4480560"/>
            <a:ext cx="36568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pc="71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ÁLVARO</a:t>
            </a:r>
            <a:endParaRPr lang="es-CL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2"/>
          <p:cNvSpPr/>
          <p:nvPr/>
        </p:nvSpPr>
        <p:spPr>
          <a:xfrm>
            <a:off x="704160" y="4974480"/>
            <a:ext cx="5138280" cy="849600"/>
          </a:xfrm>
          <a:prstGeom prst="roundRect">
            <a:avLst>
              <a:gd name="adj" fmla="val 12903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3"/>
          <p:cNvSpPr/>
          <p:nvPr/>
        </p:nvSpPr>
        <p:spPr>
          <a:xfrm>
            <a:off x="850320" y="5102280"/>
            <a:ext cx="66672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B6E43B"/>
                </a:solidFill>
                <a:effectLst/>
                <a:uFillTx/>
                <a:latin typeface="DejaVu Sans Mono"/>
                <a:ea typeface="DejaVu Sans Mono"/>
              </a:rPr>
              <a:t>04</a:t>
            </a:r>
            <a:endParaRPr lang="es-CL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4"/>
          <p:cNvSpPr/>
          <p:nvPr/>
        </p:nvSpPr>
        <p:spPr>
          <a:xfrm>
            <a:off x="1618560" y="5074920"/>
            <a:ext cx="39769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1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Herramientas</a:t>
            </a:r>
            <a:endParaRPr lang="es-CL" sz="1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5"/>
          <p:cNvSpPr/>
          <p:nvPr/>
        </p:nvSpPr>
        <p:spPr>
          <a:xfrm>
            <a:off x="1636920" y="5541120"/>
            <a:ext cx="36568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pc="71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ÁNGEL</a:t>
            </a:r>
            <a:endParaRPr lang="es-CL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6"/>
          <p:cNvSpPr/>
          <p:nvPr/>
        </p:nvSpPr>
        <p:spPr>
          <a:xfrm>
            <a:off x="6318360" y="1792080"/>
            <a:ext cx="5138280" cy="849600"/>
          </a:xfrm>
          <a:prstGeom prst="roundRect">
            <a:avLst>
              <a:gd name="adj" fmla="val 12903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7"/>
          <p:cNvSpPr/>
          <p:nvPr/>
        </p:nvSpPr>
        <p:spPr>
          <a:xfrm>
            <a:off x="6464880" y="1920240"/>
            <a:ext cx="66672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B6E43B"/>
                </a:solidFill>
                <a:effectLst/>
                <a:uFillTx/>
                <a:latin typeface="DejaVu Sans Mono"/>
                <a:ea typeface="DejaVu Sans Mono"/>
              </a:rPr>
              <a:t>05</a:t>
            </a:r>
            <a:endParaRPr lang="es-CL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8"/>
          <p:cNvSpPr/>
          <p:nvPr/>
        </p:nvSpPr>
        <p:spPr>
          <a:xfrm>
            <a:off x="7232760" y="1892880"/>
            <a:ext cx="39769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1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Arquitectura</a:t>
            </a:r>
            <a:endParaRPr lang="es-CL" sz="1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9"/>
          <p:cNvSpPr/>
          <p:nvPr/>
        </p:nvSpPr>
        <p:spPr>
          <a:xfrm>
            <a:off x="7251120" y="2359080"/>
            <a:ext cx="36568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pc="71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ÁNGEL</a:t>
            </a:r>
            <a:endParaRPr lang="es-CL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0"/>
          <p:cNvSpPr/>
          <p:nvPr/>
        </p:nvSpPr>
        <p:spPr>
          <a:xfrm>
            <a:off x="6318360" y="2853000"/>
            <a:ext cx="5138280" cy="849600"/>
          </a:xfrm>
          <a:prstGeom prst="roundRect">
            <a:avLst>
              <a:gd name="adj" fmla="val 12903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1"/>
          <p:cNvSpPr/>
          <p:nvPr/>
        </p:nvSpPr>
        <p:spPr>
          <a:xfrm>
            <a:off x="6464880" y="2980800"/>
            <a:ext cx="66672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B6E43B"/>
                </a:solidFill>
                <a:effectLst/>
                <a:uFillTx/>
                <a:latin typeface="DejaVu Sans Mono"/>
                <a:ea typeface="DejaVu Sans Mono"/>
              </a:rPr>
              <a:t>06</a:t>
            </a:r>
            <a:endParaRPr lang="es-CL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2"/>
          <p:cNvSpPr/>
          <p:nvPr/>
        </p:nvSpPr>
        <p:spPr>
          <a:xfrm>
            <a:off x="7232760" y="2953440"/>
            <a:ext cx="39769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1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Avance + demo</a:t>
            </a:r>
            <a:endParaRPr lang="es-CL" sz="1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3"/>
          <p:cNvSpPr/>
          <p:nvPr/>
        </p:nvSpPr>
        <p:spPr>
          <a:xfrm>
            <a:off x="7251120" y="3420000"/>
            <a:ext cx="36568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pc="71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AMBOS</a:t>
            </a:r>
            <a:endParaRPr lang="es-CL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4"/>
          <p:cNvSpPr/>
          <p:nvPr/>
        </p:nvSpPr>
        <p:spPr>
          <a:xfrm>
            <a:off x="6318360" y="3913560"/>
            <a:ext cx="5138280" cy="849600"/>
          </a:xfrm>
          <a:prstGeom prst="roundRect">
            <a:avLst>
              <a:gd name="adj" fmla="val 12903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5"/>
          <p:cNvSpPr/>
          <p:nvPr/>
        </p:nvSpPr>
        <p:spPr>
          <a:xfrm>
            <a:off x="6464880" y="4041720"/>
            <a:ext cx="66672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B6E43B"/>
                </a:solidFill>
                <a:effectLst/>
                <a:uFillTx/>
                <a:latin typeface="DejaVu Sans Mono"/>
                <a:ea typeface="DejaVu Sans Mono"/>
              </a:rPr>
              <a:t>07</a:t>
            </a:r>
            <a:endParaRPr lang="es-CL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6"/>
          <p:cNvSpPr/>
          <p:nvPr/>
        </p:nvSpPr>
        <p:spPr>
          <a:xfrm>
            <a:off x="7232760" y="4014360"/>
            <a:ext cx="39769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1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Conclusión y siguientes pasos</a:t>
            </a:r>
            <a:endParaRPr lang="es-CL" sz="1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7"/>
          <p:cNvSpPr/>
          <p:nvPr/>
        </p:nvSpPr>
        <p:spPr>
          <a:xfrm>
            <a:off x="7251120" y="4480560"/>
            <a:ext cx="36568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pc="71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AMBOS</a:t>
            </a:r>
            <a:endParaRPr lang="es-CL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B162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"/>
          <p:cNvSpPr/>
          <p:nvPr/>
        </p:nvSpPr>
        <p:spPr>
          <a:xfrm>
            <a:off x="640080" y="347400"/>
            <a:ext cx="383760" cy="360"/>
          </a:xfrm>
          <a:prstGeom prst="line">
            <a:avLst/>
          </a:prstGeom>
          <a:ln w="38100">
            <a:solidFill>
              <a:srgbClr val="B6E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1124640" y="210240"/>
            <a:ext cx="7268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pc="130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01 / CONCEPTO</a:t>
            </a:r>
            <a:endParaRPr lang="es-CL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3"/>
          <p:cNvSpPr/>
          <p:nvPr/>
        </p:nvSpPr>
        <p:spPr>
          <a:xfrm>
            <a:off x="9665280" y="164520"/>
            <a:ext cx="1800720" cy="328320"/>
          </a:xfrm>
          <a:prstGeom prst="roundRect">
            <a:avLst>
              <a:gd name="adj" fmla="val 33333"/>
            </a:avLst>
          </a:prstGeom>
          <a:solidFill>
            <a:srgbClr val="213C3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9711000" y="219600"/>
            <a:ext cx="1709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pc="51" strike="noStrike">
                <a:solidFill>
                  <a:srgbClr val="B6E43B"/>
                </a:solidFill>
                <a:effectLst/>
                <a:uFillTx/>
                <a:latin typeface="Inter"/>
                <a:ea typeface="Inter"/>
              </a:rPr>
              <a:t>ÁLVARO</a:t>
            </a:r>
            <a:endParaRPr lang="es-CL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"/>
          <p:cNvSpPr/>
          <p:nvPr/>
        </p:nvSpPr>
        <p:spPr>
          <a:xfrm>
            <a:off x="640080" y="6492240"/>
            <a:ext cx="10917720" cy="360"/>
          </a:xfrm>
          <a:prstGeom prst="line">
            <a:avLst/>
          </a:prstGeom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649080" y="6546960"/>
            <a:ext cx="54856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99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DIRECTIVA / CAPSTONE / FASE 2</a:t>
            </a:r>
            <a:endParaRPr lang="es-CL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10707480" y="6546960"/>
            <a:ext cx="7855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A8BAC5"/>
                </a:solidFill>
                <a:effectLst/>
                <a:uFillTx/>
                <a:latin typeface="DejaVu Sans Mono"/>
                <a:ea typeface="DejaVu Sans Mono"/>
              </a:rPr>
              <a:t>03 / 10</a:t>
            </a:r>
            <a:endParaRPr lang="es-CL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8"/>
          <p:cNvSpPr/>
          <p:nvPr/>
        </p:nvSpPr>
        <p:spPr>
          <a:xfrm>
            <a:off x="640080" y="704160"/>
            <a:ext cx="108806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5F8FA"/>
                </a:solidFill>
                <a:effectLst/>
                <a:uFillTx/>
                <a:latin typeface="Inter Display"/>
                <a:ea typeface="Inter Display"/>
              </a:rPr>
              <a:t>¿Qué es Directiva?</a:t>
            </a:r>
            <a:endParaRPr lang="es-CL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9"/>
          <p:cNvSpPr/>
          <p:nvPr/>
        </p:nvSpPr>
        <p:spPr>
          <a:xfrm>
            <a:off x="649080" y="1252800"/>
            <a:ext cx="10880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Videojuego educativo de estrategia y automatización</a:t>
            </a:r>
            <a:endParaRPr lang="es-C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731520" y="1783080"/>
            <a:ext cx="59612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B6E43B"/>
                </a:solidFill>
                <a:effectLst/>
                <a:uFillTx/>
                <a:latin typeface="Inter Display"/>
                <a:ea typeface="Inter Display"/>
              </a:rPr>
              <a:t>Programar es jugar.</a:t>
            </a:r>
            <a:endParaRPr lang="es-C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740520" y="2660760"/>
            <a:ext cx="5915520" cy="11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40" b="0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En lugar de dar órdenes directamente, el jugador escribe programas que controlan unidades autónomas y el Nexo.</a:t>
            </a:r>
            <a:endParaRPr lang="es-CL" sz="2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2"/>
          <p:cNvSpPr/>
          <p:nvPr/>
        </p:nvSpPr>
        <p:spPr>
          <a:xfrm>
            <a:off x="6922080" y="1719000"/>
            <a:ext cx="4552920" cy="3300120"/>
          </a:xfrm>
          <a:prstGeom prst="roundRect">
            <a:avLst>
              <a:gd name="adj" fmla="val 3324"/>
            </a:avLst>
          </a:prstGeom>
          <a:solidFill>
            <a:srgbClr val="1B2C39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7169040" y="1984320"/>
            <a:ext cx="556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B6E43B"/>
                </a:solidFill>
                <a:effectLst/>
                <a:uFillTx/>
                <a:latin typeface="DejaVu Sans Mono"/>
                <a:ea typeface="DejaVu Sans Mono"/>
              </a:rPr>
              <a:t>01</a:t>
            </a:r>
            <a:endParaRPr lang="es-CL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4"/>
          <p:cNvSpPr/>
          <p:nvPr/>
        </p:nvSpPr>
        <p:spPr>
          <a:xfrm>
            <a:off x="7836480" y="1947600"/>
            <a:ext cx="3016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ESCRIBIR</a:t>
            </a:r>
            <a:endParaRPr lang="es-CL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5"/>
          <p:cNvSpPr/>
          <p:nvPr/>
        </p:nvSpPr>
        <p:spPr>
          <a:xfrm>
            <a:off x="7872840" y="2377440"/>
            <a:ext cx="3245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Un programa en DScript</a:t>
            </a:r>
            <a:endParaRPr lang="es-CL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6"/>
          <p:cNvSpPr/>
          <p:nvPr/>
        </p:nvSpPr>
        <p:spPr>
          <a:xfrm>
            <a:off x="7754040" y="2761200"/>
            <a:ext cx="3273480" cy="360"/>
          </a:xfrm>
          <a:prstGeom prst="line">
            <a:avLst/>
          </a:prstGeom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7"/>
          <p:cNvSpPr/>
          <p:nvPr/>
        </p:nvSpPr>
        <p:spPr>
          <a:xfrm>
            <a:off x="7169040" y="2935080"/>
            <a:ext cx="556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B6E43B"/>
                </a:solidFill>
                <a:effectLst/>
                <a:uFillTx/>
                <a:latin typeface="DejaVu Sans Mono"/>
                <a:ea typeface="DejaVu Sans Mono"/>
              </a:rPr>
              <a:t>02</a:t>
            </a:r>
            <a:endParaRPr lang="es-CL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8"/>
          <p:cNvSpPr/>
          <p:nvPr/>
        </p:nvSpPr>
        <p:spPr>
          <a:xfrm>
            <a:off x="7836480" y="2898720"/>
            <a:ext cx="3016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ASIGNAR</a:t>
            </a:r>
            <a:endParaRPr lang="es-CL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9"/>
          <p:cNvSpPr/>
          <p:nvPr/>
        </p:nvSpPr>
        <p:spPr>
          <a:xfrm>
            <a:off x="7872840" y="3328560"/>
            <a:ext cx="3245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Unidades y Nexo</a:t>
            </a:r>
            <a:endParaRPr lang="es-CL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0"/>
          <p:cNvSpPr/>
          <p:nvPr/>
        </p:nvSpPr>
        <p:spPr>
          <a:xfrm>
            <a:off x="7754040" y="3712320"/>
            <a:ext cx="3273480" cy="360"/>
          </a:xfrm>
          <a:prstGeom prst="line">
            <a:avLst/>
          </a:prstGeom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7169040" y="3886200"/>
            <a:ext cx="556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B6E43B"/>
                </a:solidFill>
                <a:effectLst/>
                <a:uFillTx/>
                <a:latin typeface="DejaVu Sans Mono"/>
                <a:ea typeface="DejaVu Sans Mono"/>
              </a:rPr>
              <a:t>03</a:t>
            </a:r>
            <a:endParaRPr lang="es-CL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2"/>
          <p:cNvSpPr/>
          <p:nvPr/>
        </p:nvSpPr>
        <p:spPr>
          <a:xfrm>
            <a:off x="7836480" y="3849480"/>
            <a:ext cx="3016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OBSERVAR</a:t>
            </a:r>
            <a:endParaRPr lang="es-CL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3"/>
          <p:cNvSpPr/>
          <p:nvPr/>
        </p:nvSpPr>
        <p:spPr>
          <a:xfrm>
            <a:off x="7872840" y="4279320"/>
            <a:ext cx="3245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Ejecutar y mejorar</a:t>
            </a:r>
            <a:endParaRPr lang="es-CL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4"/>
          <p:cNvSpPr/>
          <p:nvPr/>
        </p:nvSpPr>
        <p:spPr>
          <a:xfrm>
            <a:off x="740520" y="5413320"/>
            <a:ext cx="10697760" cy="593640"/>
          </a:xfrm>
          <a:prstGeom prst="roundRect">
            <a:avLst>
              <a:gd name="adj" fmla="val 18462"/>
            </a:avLst>
          </a:prstGeom>
          <a:solidFill>
            <a:srgbClr val="1C332E"/>
          </a:solidFill>
          <a:ln w="12700">
            <a:solidFill>
              <a:srgbClr val="375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5"/>
          <p:cNvSpPr/>
          <p:nvPr/>
        </p:nvSpPr>
        <p:spPr>
          <a:xfrm>
            <a:off x="960120" y="5568840"/>
            <a:ext cx="10240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90" b="1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PROPÓSITO: aprender programación experimentando con resultados visibles.</a:t>
            </a:r>
            <a:endParaRPr lang="es-CL" sz="1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B162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"/>
          <p:cNvSpPr/>
          <p:nvPr/>
        </p:nvSpPr>
        <p:spPr>
          <a:xfrm>
            <a:off x="640080" y="347400"/>
            <a:ext cx="383760" cy="360"/>
          </a:xfrm>
          <a:prstGeom prst="line">
            <a:avLst/>
          </a:prstGeom>
          <a:ln w="38100">
            <a:solidFill>
              <a:srgbClr val="B6E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1124640" y="210240"/>
            <a:ext cx="7268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pc="130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02 / METODOLOGÍA</a:t>
            </a:r>
            <a:endParaRPr lang="es-CL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9665280" y="164520"/>
            <a:ext cx="1800720" cy="328320"/>
          </a:xfrm>
          <a:prstGeom prst="roundRect">
            <a:avLst>
              <a:gd name="adj" fmla="val 33333"/>
            </a:avLst>
          </a:prstGeom>
          <a:solidFill>
            <a:srgbClr val="213C3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9711000" y="219600"/>
            <a:ext cx="1709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pc="51" strike="noStrike">
                <a:solidFill>
                  <a:srgbClr val="B6E43B"/>
                </a:solidFill>
                <a:effectLst/>
                <a:uFillTx/>
                <a:latin typeface="Inter"/>
                <a:ea typeface="Inter"/>
              </a:rPr>
              <a:t>ÁLVARO</a:t>
            </a:r>
            <a:endParaRPr lang="es-CL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5"/>
          <p:cNvSpPr/>
          <p:nvPr/>
        </p:nvSpPr>
        <p:spPr>
          <a:xfrm>
            <a:off x="640080" y="6492240"/>
            <a:ext cx="10917720" cy="360"/>
          </a:xfrm>
          <a:prstGeom prst="line">
            <a:avLst/>
          </a:prstGeom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649080" y="6546960"/>
            <a:ext cx="54856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99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DIRECTIVA / CAPSTONE / FASE 2</a:t>
            </a:r>
            <a:endParaRPr lang="es-CL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10707480" y="6546960"/>
            <a:ext cx="7855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A8BAC5"/>
                </a:solidFill>
                <a:effectLst/>
                <a:uFillTx/>
                <a:latin typeface="DejaVu Sans Mono"/>
                <a:ea typeface="DejaVu Sans Mono"/>
              </a:rPr>
              <a:t>04 / 10</a:t>
            </a:r>
            <a:endParaRPr lang="es-CL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8"/>
          <p:cNvSpPr/>
          <p:nvPr/>
        </p:nvSpPr>
        <p:spPr>
          <a:xfrm>
            <a:off x="640080" y="704160"/>
            <a:ext cx="108806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5F8FA"/>
                </a:solidFill>
                <a:effectLst/>
                <a:uFillTx/>
                <a:latin typeface="Inter Display"/>
                <a:ea typeface="Inter Display"/>
              </a:rPr>
              <a:t>Scrum, adaptado a un equipo de dos</a:t>
            </a:r>
            <a:endParaRPr lang="es-CL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649080" y="1252800"/>
            <a:ext cx="10880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Planificación semanal, seguimiento y decisiones basadas en avances</a:t>
            </a:r>
            <a:endParaRPr lang="es-C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0"/>
          <p:cNvSpPr/>
          <p:nvPr/>
        </p:nvSpPr>
        <p:spPr>
          <a:xfrm>
            <a:off x="731520" y="1691640"/>
            <a:ext cx="1672560" cy="328320"/>
          </a:xfrm>
          <a:prstGeom prst="roundRect">
            <a:avLst>
              <a:gd name="adj" fmla="val 33333"/>
            </a:avLst>
          </a:prstGeom>
          <a:solidFill>
            <a:srgbClr val="213C3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1"/>
          <p:cNvSpPr/>
          <p:nvPr/>
        </p:nvSpPr>
        <p:spPr>
          <a:xfrm>
            <a:off x="777240" y="1746360"/>
            <a:ext cx="15811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pc="51" strike="noStrike">
                <a:solidFill>
                  <a:srgbClr val="B6E43B"/>
                </a:solidFill>
                <a:effectLst/>
                <a:uFillTx/>
                <a:latin typeface="Inter"/>
                <a:ea typeface="Inter"/>
              </a:rPr>
              <a:t>SCRUM ADAPTADO</a:t>
            </a:r>
            <a:endParaRPr lang="es-CL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2"/>
          <p:cNvSpPr/>
          <p:nvPr/>
        </p:nvSpPr>
        <p:spPr>
          <a:xfrm>
            <a:off x="2551320" y="1691640"/>
            <a:ext cx="1471320" cy="328320"/>
          </a:xfrm>
          <a:prstGeom prst="roundRect">
            <a:avLst>
              <a:gd name="adj" fmla="val 33333"/>
            </a:avLst>
          </a:prstGeom>
          <a:solidFill>
            <a:srgbClr val="213C3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2597040" y="1746360"/>
            <a:ext cx="1379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pc="51" strike="noStrike">
                <a:solidFill>
                  <a:srgbClr val="B6E43B"/>
                </a:solidFill>
                <a:effectLst/>
                <a:uFillTx/>
                <a:latin typeface="Inter"/>
                <a:ea typeface="Inter"/>
              </a:rPr>
              <a:t>2 INTEGRANTES</a:t>
            </a:r>
            <a:endParaRPr lang="es-CL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4"/>
          <p:cNvSpPr/>
          <p:nvPr/>
        </p:nvSpPr>
        <p:spPr>
          <a:xfrm>
            <a:off x="740520" y="224028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Ciclo de trabajo</a:t>
            </a:r>
            <a:endParaRPr lang="es-C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5"/>
          <p:cNvSpPr/>
          <p:nvPr/>
        </p:nvSpPr>
        <p:spPr>
          <a:xfrm>
            <a:off x="722520" y="2761560"/>
            <a:ext cx="2532240" cy="1050840"/>
          </a:xfrm>
          <a:prstGeom prst="roundRect">
            <a:avLst>
              <a:gd name="adj" fmla="val 10435"/>
            </a:avLst>
          </a:prstGeom>
          <a:solidFill>
            <a:srgbClr val="1B2C39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6"/>
          <p:cNvSpPr/>
          <p:nvPr/>
        </p:nvSpPr>
        <p:spPr>
          <a:xfrm>
            <a:off x="722520" y="2761560"/>
            <a:ext cx="2532240" cy="57960"/>
          </a:xfrm>
          <a:prstGeom prst="rect">
            <a:avLst/>
          </a:prstGeom>
          <a:solidFill>
            <a:srgbClr val="697E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680" rIns="90000" bIns="1368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7"/>
          <p:cNvSpPr/>
          <p:nvPr/>
        </p:nvSpPr>
        <p:spPr>
          <a:xfrm>
            <a:off x="804600" y="3008520"/>
            <a:ext cx="236772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1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PLANIFICAR</a:t>
            </a:r>
            <a:endParaRPr lang="es-CL" sz="1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8"/>
          <p:cNvSpPr/>
          <p:nvPr/>
        </p:nvSpPr>
        <p:spPr>
          <a:xfrm>
            <a:off x="831960" y="3392280"/>
            <a:ext cx="2322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Product Backlog</a:t>
            </a:r>
            <a:endParaRPr lang="es-CL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9"/>
          <p:cNvSpPr/>
          <p:nvPr/>
        </p:nvSpPr>
        <p:spPr>
          <a:xfrm>
            <a:off x="3309840" y="3282480"/>
            <a:ext cx="155520" cy="360"/>
          </a:xfrm>
          <a:prstGeom prst="line">
            <a:avLst/>
          </a:prstGeom>
          <a:ln w="25400">
            <a:solidFill>
              <a:srgbClr val="B6E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760" tIns="-44640" rIns="7776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0"/>
          <p:cNvSpPr/>
          <p:nvPr/>
        </p:nvSpPr>
        <p:spPr>
          <a:xfrm>
            <a:off x="3438000" y="3191400"/>
            <a:ext cx="163800" cy="182160"/>
          </a:xfrm>
          <a:prstGeom prst="chevron">
            <a:avLst>
              <a:gd name="adj" fmla="val 50000"/>
            </a:avLst>
          </a:prstGeom>
          <a:solidFill>
            <a:srgbClr val="B6E43B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1"/>
          <p:cNvSpPr/>
          <p:nvPr/>
        </p:nvSpPr>
        <p:spPr>
          <a:xfrm>
            <a:off x="3584520" y="2761560"/>
            <a:ext cx="2532240" cy="1050840"/>
          </a:xfrm>
          <a:prstGeom prst="roundRect">
            <a:avLst>
              <a:gd name="adj" fmla="val 10435"/>
            </a:avLst>
          </a:prstGeom>
          <a:solidFill>
            <a:srgbClr val="1B2C39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2"/>
          <p:cNvSpPr/>
          <p:nvPr/>
        </p:nvSpPr>
        <p:spPr>
          <a:xfrm>
            <a:off x="3584520" y="2761560"/>
            <a:ext cx="2532240" cy="57960"/>
          </a:xfrm>
          <a:prstGeom prst="rect">
            <a:avLst/>
          </a:prstGeom>
          <a:solidFill>
            <a:srgbClr val="697E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680" rIns="90000" bIns="1368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3"/>
          <p:cNvSpPr/>
          <p:nvPr/>
        </p:nvSpPr>
        <p:spPr>
          <a:xfrm>
            <a:off x="3666600" y="3008520"/>
            <a:ext cx="236772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1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DESARROLLAR</a:t>
            </a:r>
            <a:endParaRPr lang="es-CL" sz="1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4"/>
          <p:cNvSpPr/>
          <p:nvPr/>
        </p:nvSpPr>
        <p:spPr>
          <a:xfrm>
            <a:off x="3694320" y="3392280"/>
            <a:ext cx="2322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Sprint semanal</a:t>
            </a:r>
            <a:endParaRPr lang="es-CL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5"/>
          <p:cNvSpPr/>
          <p:nvPr/>
        </p:nvSpPr>
        <p:spPr>
          <a:xfrm>
            <a:off x="6172200" y="3282480"/>
            <a:ext cx="155160" cy="360"/>
          </a:xfrm>
          <a:prstGeom prst="line">
            <a:avLst/>
          </a:prstGeom>
          <a:ln w="25400">
            <a:solidFill>
              <a:srgbClr val="B6E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-44640" rIns="774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6"/>
          <p:cNvSpPr/>
          <p:nvPr/>
        </p:nvSpPr>
        <p:spPr>
          <a:xfrm>
            <a:off x="6300360" y="3191400"/>
            <a:ext cx="163800" cy="182160"/>
          </a:xfrm>
          <a:prstGeom prst="chevron">
            <a:avLst>
              <a:gd name="adj" fmla="val 50000"/>
            </a:avLst>
          </a:prstGeom>
          <a:solidFill>
            <a:srgbClr val="B6E43B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7"/>
          <p:cNvSpPr/>
          <p:nvPr/>
        </p:nvSpPr>
        <p:spPr>
          <a:xfrm>
            <a:off x="6446520" y="2761560"/>
            <a:ext cx="2532240" cy="1050840"/>
          </a:xfrm>
          <a:prstGeom prst="roundRect">
            <a:avLst>
              <a:gd name="adj" fmla="val 10435"/>
            </a:avLst>
          </a:prstGeom>
          <a:solidFill>
            <a:srgbClr val="1B2C39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8"/>
          <p:cNvSpPr/>
          <p:nvPr/>
        </p:nvSpPr>
        <p:spPr>
          <a:xfrm>
            <a:off x="6446520" y="2761560"/>
            <a:ext cx="2532240" cy="57960"/>
          </a:xfrm>
          <a:prstGeom prst="rect">
            <a:avLst/>
          </a:prstGeom>
          <a:solidFill>
            <a:srgbClr val="697E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680" rIns="90000" bIns="1368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9"/>
          <p:cNvSpPr/>
          <p:nvPr/>
        </p:nvSpPr>
        <p:spPr>
          <a:xfrm>
            <a:off x="6528960" y="3008520"/>
            <a:ext cx="236772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1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REVISAR</a:t>
            </a:r>
            <a:endParaRPr lang="es-CL" sz="1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0"/>
          <p:cNvSpPr/>
          <p:nvPr/>
        </p:nvSpPr>
        <p:spPr>
          <a:xfrm>
            <a:off x="6556320" y="3392280"/>
            <a:ext cx="2322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Dailies y registro</a:t>
            </a:r>
            <a:endParaRPr lang="es-CL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1"/>
          <p:cNvSpPr/>
          <p:nvPr/>
        </p:nvSpPr>
        <p:spPr>
          <a:xfrm>
            <a:off x="9034200" y="3282480"/>
            <a:ext cx="155520" cy="360"/>
          </a:xfrm>
          <a:prstGeom prst="line">
            <a:avLst/>
          </a:prstGeom>
          <a:ln w="25400">
            <a:solidFill>
              <a:srgbClr val="B6E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760" tIns="-44640" rIns="7776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2"/>
          <p:cNvSpPr/>
          <p:nvPr/>
        </p:nvSpPr>
        <p:spPr>
          <a:xfrm>
            <a:off x="9162360" y="3191400"/>
            <a:ext cx="163800" cy="182160"/>
          </a:xfrm>
          <a:prstGeom prst="chevron">
            <a:avLst>
              <a:gd name="adj" fmla="val 50000"/>
            </a:avLst>
          </a:prstGeom>
          <a:solidFill>
            <a:srgbClr val="B6E43B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33"/>
          <p:cNvSpPr/>
          <p:nvPr/>
        </p:nvSpPr>
        <p:spPr>
          <a:xfrm>
            <a:off x="9308520" y="2761560"/>
            <a:ext cx="2532240" cy="1050840"/>
          </a:xfrm>
          <a:prstGeom prst="roundRect">
            <a:avLst>
              <a:gd name="adj" fmla="val 10435"/>
            </a:avLst>
          </a:prstGeom>
          <a:solidFill>
            <a:srgbClr val="1B2C39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4"/>
          <p:cNvSpPr/>
          <p:nvPr/>
        </p:nvSpPr>
        <p:spPr>
          <a:xfrm>
            <a:off x="9308520" y="2761560"/>
            <a:ext cx="2532240" cy="57960"/>
          </a:xfrm>
          <a:prstGeom prst="rect">
            <a:avLst/>
          </a:prstGeom>
          <a:solidFill>
            <a:srgbClr val="FFD05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680" rIns="90000" bIns="1368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5"/>
          <p:cNvSpPr/>
          <p:nvPr/>
        </p:nvSpPr>
        <p:spPr>
          <a:xfrm>
            <a:off x="9390960" y="3008520"/>
            <a:ext cx="236772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1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AJUSTAR</a:t>
            </a:r>
            <a:endParaRPr lang="es-CL" sz="1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6"/>
          <p:cNvSpPr/>
          <p:nvPr/>
        </p:nvSpPr>
        <p:spPr>
          <a:xfrm>
            <a:off x="9418320" y="3392280"/>
            <a:ext cx="2322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Gantt y prioridades</a:t>
            </a:r>
            <a:endParaRPr lang="es-CL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7"/>
          <p:cNvSpPr/>
          <p:nvPr/>
        </p:nvSpPr>
        <p:spPr>
          <a:xfrm>
            <a:off x="740520" y="4133160"/>
            <a:ext cx="5311800" cy="1316160"/>
          </a:xfrm>
          <a:prstGeom prst="roundRect">
            <a:avLst>
              <a:gd name="adj" fmla="val 8333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8"/>
          <p:cNvSpPr/>
          <p:nvPr/>
        </p:nvSpPr>
        <p:spPr>
          <a:xfrm>
            <a:off x="960120" y="4316040"/>
            <a:ext cx="474516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pc="91" strike="noStrike">
                <a:solidFill>
                  <a:srgbClr val="67E0A4"/>
                </a:solidFill>
                <a:effectLst/>
                <a:uFillTx/>
                <a:latin typeface="Inter"/>
                <a:ea typeface="Inter"/>
              </a:rPr>
              <a:t>ROLES DEFINIDOS</a:t>
            </a:r>
            <a:endParaRPr lang="es-CL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9"/>
          <p:cNvSpPr/>
          <p:nvPr/>
        </p:nvSpPr>
        <p:spPr>
          <a:xfrm>
            <a:off x="969120" y="4681800"/>
            <a:ext cx="469008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Álvaro: gestión y seguimiento</a:t>
            </a:r>
            <a:endParaRPr lang="es-CL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0"/>
          <p:cNvSpPr/>
          <p:nvPr/>
        </p:nvSpPr>
        <p:spPr>
          <a:xfrm>
            <a:off x="969120" y="5001840"/>
            <a:ext cx="4735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60" b="0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Ángel: arquitectura y desarrollo técnico</a:t>
            </a:r>
            <a:endParaRPr lang="es-CL" sz="14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41"/>
          <p:cNvSpPr/>
          <p:nvPr/>
        </p:nvSpPr>
        <p:spPr>
          <a:xfrm>
            <a:off x="6309360" y="4133160"/>
            <a:ext cx="5147280" cy="1316160"/>
          </a:xfrm>
          <a:prstGeom prst="roundRect">
            <a:avLst>
              <a:gd name="adj" fmla="val 8333"/>
            </a:avLst>
          </a:prstGeom>
          <a:solidFill>
            <a:srgbClr val="222B34"/>
          </a:solidFill>
          <a:ln w="12700">
            <a:solidFill>
              <a:srgbClr val="5260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42"/>
          <p:cNvSpPr/>
          <p:nvPr/>
        </p:nvSpPr>
        <p:spPr>
          <a:xfrm>
            <a:off x="6556320" y="4316040"/>
            <a:ext cx="45072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pc="91" strike="noStrike">
                <a:solidFill>
                  <a:srgbClr val="FFD05C"/>
                </a:solidFill>
                <a:effectLst/>
                <a:uFillTx/>
                <a:latin typeface="Inter"/>
                <a:ea typeface="Inter"/>
              </a:rPr>
              <a:t>REPLANIFICACIÓN REAL</a:t>
            </a:r>
            <a:endParaRPr lang="es-CL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3"/>
          <p:cNvSpPr/>
          <p:nvPr/>
        </p:nvSpPr>
        <p:spPr>
          <a:xfrm>
            <a:off x="6556320" y="4636080"/>
            <a:ext cx="4617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70" b="0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Se dividió el lenguaje en seis tareas y se reprogramaron los playtests hasta disponer de DScript jugable.</a:t>
            </a:r>
            <a:endParaRPr lang="es-CL" sz="1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4"/>
          <p:cNvSpPr/>
          <p:nvPr/>
        </p:nvSpPr>
        <p:spPr>
          <a:xfrm>
            <a:off x="804600" y="5870520"/>
            <a:ext cx="1064304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SEGUIMIENTO  /  Scrumboard  /  Carta Gantt  /  GitHub  /  reuniones</a:t>
            </a:r>
            <a:endParaRPr lang="es-C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B162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"/>
          <p:cNvSpPr/>
          <p:nvPr/>
        </p:nvSpPr>
        <p:spPr>
          <a:xfrm>
            <a:off x="640080" y="347400"/>
            <a:ext cx="383760" cy="360"/>
          </a:xfrm>
          <a:prstGeom prst="line">
            <a:avLst/>
          </a:prstGeom>
          <a:ln w="38100">
            <a:solidFill>
              <a:srgbClr val="B6E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1124640" y="210240"/>
            <a:ext cx="7268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pc="130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03 / DIRECCIÓN VISUAL</a:t>
            </a:r>
            <a:endParaRPr lang="es-CL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9665280" y="164520"/>
            <a:ext cx="1800720" cy="328320"/>
          </a:xfrm>
          <a:prstGeom prst="roundRect">
            <a:avLst>
              <a:gd name="adj" fmla="val 33333"/>
            </a:avLst>
          </a:prstGeom>
          <a:solidFill>
            <a:srgbClr val="213C3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9711000" y="219600"/>
            <a:ext cx="1709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pc="51" strike="noStrike">
                <a:solidFill>
                  <a:srgbClr val="B6E43B"/>
                </a:solidFill>
                <a:effectLst/>
                <a:uFillTx/>
                <a:latin typeface="Inter"/>
                <a:ea typeface="Inter"/>
              </a:rPr>
              <a:t>ÁLVARO</a:t>
            </a:r>
            <a:endParaRPr lang="es-CL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640080" y="6492240"/>
            <a:ext cx="10917720" cy="360"/>
          </a:xfrm>
          <a:prstGeom prst="line">
            <a:avLst/>
          </a:prstGeom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649080" y="6546960"/>
            <a:ext cx="54856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99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DIRECTIVA / CAPSTONE / FASE 2</a:t>
            </a:r>
            <a:endParaRPr lang="es-CL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10707480" y="6546960"/>
            <a:ext cx="7855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A8BAC5"/>
                </a:solidFill>
                <a:effectLst/>
                <a:uFillTx/>
                <a:latin typeface="DejaVu Sans Mono"/>
                <a:ea typeface="DejaVu Sans Mono"/>
              </a:rPr>
              <a:t>05 / 10</a:t>
            </a:r>
            <a:endParaRPr lang="es-CL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640080" y="704160"/>
            <a:ext cx="108806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5F8FA"/>
                </a:solidFill>
                <a:effectLst/>
                <a:uFillTx/>
                <a:latin typeface="Inter Display"/>
                <a:ea typeface="Inter Display"/>
              </a:rPr>
              <a:t>Identidad visual de Directiva</a:t>
            </a:r>
            <a:endParaRPr lang="es-CL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649080" y="1252800"/>
            <a:ext cx="10880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Logo, iconografía e interfaces de la versión actual</a:t>
            </a:r>
            <a:endParaRPr lang="es-C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0"/>
          <p:cNvSpPr/>
          <p:nvPr/>
        </p:nvSpPr>
        <p:spPr>
          <a:xfrm>
            <a:off x="704160" y="1572840"/>
            <a:ext cx="10770840" cy="876960"/>
          </a:xfrm>
          <a:prstGeom prst="roundRect">
            <a:avLst>
              <a:gd name="adj" fmla="val 12500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905400" y="1764720"/>
            <a:ext cx="666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LOGO</a:t>
            </a:r>
            <a:endParaRPr lang="es-CL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Image 0" descr="/mnt/data/directiva_ppt_work/assets/directiva_logo_white.png"/>
          <p:cNvPicPr/>
          <p:nvPr/>
        </p:nvPicPr>
        <p:blipFill>
          <a:blip r:embed="rId1"/>
          <a:stretch/>
        </p:blipFill>
        <p:spPr>
          <a:xfrm>
            <a:off x="1962000" y="1673280"/>
            <a:ext cx="3564000" cy="56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Text 12"/>
          <p:cNvSpPr/>
          <p:nvPr/>
        </p:nvSpPr>
        <p:spPr>
          <a:xfrm>
            <a:off x="6702480" y="1764720"/>
            <a:ext cx="80388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ÍCONO</a:t>
            </a:r>
            <a:endParaRPr lang="es-CL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1" descr="/mnt/data/directiva_ppt_work/assets/directiva_icon_transparent.png"/>
          <p:cNvPicPr/>
          <p:nvPr/>
        </p:nvPicPr>
        <p:blipFill>
          <a:blip r:embed="rId2"/>
          <a:stretch/>
        </p:blipFill>
        <p:spPr>
          <a:xfrm>
            <a:off x="7790760" y="1636920"/>
            <a:ext cx="721800" cy="72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13"/>
          <p:cNvSpPr/>
          <p:nvPr/>
        </p:nvSpPr>
        <p:spPr>
          <a:xfrm>
            <a:off x="8613720" y="1746360"/>
            <a:ext cx="260532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Geometría low-poly y estilo digital</a:t>
            </a:r>
            <a:endParaRPr lang="es-CL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4"/>
          <p:cNvSpPr/>
          <p:nvPr/>
        </p:nvSpPr>
        <p:spPr>
          <a:xfrm>
            <a:off x="672120" y="2747880"/>
            <a:ext cx="5321160" cy="2916360"/>
          </a:xfrm>
          <a:prstGeom prst="roundRect">
            <a:avLst>
              <a:gd name="adj" fmla="val 3762"/>
            </a:avLst>
          </a:prstGeom>
          <a:solidFill>
            <a:srgbClr val="1B2C39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6" name="Image 2" descr="/mnt/data/directiva_ppt_work/assets/evidence/Evidencias/Capturas del Editor/main_menu.png"/>
          <p:cNvPicPr/>
          <p:nvPr/>
        </p:nvPicPr>
        <p:blipFill>
          <a:blip r:embed="rId3"/>
          <a:stretch/>
        </p:blipFill>
        <p:spPr>
          <a:xfrm>
            <a:off x="1084320" y="2797920"/>
            <a:ext cx="4496760" cy="281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Shape 15"/>
          <p:cNvSpPr/>
          <p:nvPr/>
        </p:nvSpPr>
        <p:spPr>
          <a:xfrm>
            <a:off x="6195240" y="2747880"/>
            <a:ext cx="5321160" cy="2916360"/>
          </a:xfrm>
          <a:prstGeom prst="roundRect">
            <a:avLst>
              <a:gd name="adj" fmla="val 3762"/>
            </a:avLst>
          </a:prstGeom>
          <a:solidFill>
            <a:srgbClr val="1B2C39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Image 3" descr="/mnt/data/directiva_ppt_work/assets/evidence/Evidencias/Capturas del Editor/editor_solucion_consola.png"/>
          <p:cNvPicPr/>
          <p:nvPr/>
        </p:nvPicPr>
        <p:blipFill>
          <a:blip r:embed="rId4"/>
          <a:stretch/>
        </p:blipFill>
        <p:spPr>
          <a:xfrm>
            <a:off x="6592320" y="2797920"/>
            <a:ext cx="4526280" cy="281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 16"/>
          <p:cNvSpPr/>
          <p:nvPr/>
        </p:nvSpPr>
        <p:spPr>
          <a:xfrm>
            <a:off x="768240" y="5815440"/>
            <a:ext cx="5138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MENÚ PRINCIPAL</a:t>
            </a:r>
            <a:endParaRPr lang="es-C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7"/>
          <p:cNvSpPr/>
          <p:nvPr/>
        </p:nvSpPr>
        <p:spPr>
          <a:xfrm>
            <a:off x="6272640" y="5815440"/>
            <a:ext cx="512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EDITOR DE CÓDIGO</a:t>
            </a:r>
            <a:endParaRPr lang="es-C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B162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"/>
          <p:cNvSpPr/>
          <p:nvPr/>
        </p:nvSpPr>
        <p:spPr>
          <a:xfrm>
            <a:off x="640080" y="347400"/>
            <a:ext cx="383760" cy="360"/>
          </a:xfrm>
          <a:prstGeom prst="line">
            <a:avLst/>
          </a:prstGeom>
          <a:ln w="38100">
            <a:solidFill>
              <a:srgbClr val="B6E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1124640" y="210240"/>
            <a:ext cx="7268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pc="130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03 / REFERENCIAS</a:t>
            </a:r>
            <a:endParaRPr lang="es-CL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9665280" y="164520"/>
            <a:ext cx="1800720" cy="328320"/>
          </a:xfrm>
          <a:prstGeom prst="roundRect">
            <a:avLst>
              <a:gd name="adj" fmla="val 33333"/>
            </a:avLst>
          </a:prstGeom>
          <a:solidFill>
            <a:srgbClr val="213C3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9711000" y="219600"/>
            <a:ext cx="1709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pc="51" strike="noStrike">
                <a:solidFill>
                  <a:srgbClr val="B6E43B"/>
                </a:solidFill>
                <a:effectLst/>
                <a:uFillTx/>
                <a:latin typeface="Inter"/>
                <a:ea typeface="Inter"/>
              </a:rPr>
              <a:t>ÁLVARO</a:t>
            </a:r>
            <a:endParaRPr lang="es-CL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5"/>
          <p:cNvSpPr/>
          <p:nvPr/>
        </p:nvSpPr>
        <p:spPr>
          <a:xfrm>
            <a:off x="640080" y="6492240"/>
            <a:ext cx="10917720" cy="360"/>
          </a:xfrm>
          <a:prstGeom prst="line">
            <a:avLst/>
          </a:prstGeom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649080" y="6546960"/>
            <a:ext cx="54856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99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DIRECTIVA / CAPSTONE / FASE 2</a:t>
            </a:r>
            <a:endParaRPr lang="es-CL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10707480" y="6546960"/>
            <a:ext cx="7855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A8BAC5"/>
                </a:solidFill>
                <a:effectLst/>
                <a:uFillTx/>
                <a:latin typeface="DejaVu Sans Mono"/>
                <a:ea typeface="DejaVu Sans Mono"/>
              </a:rPr>
              <a:t>06 / 10</a:t>
            </a:r>
            <a:endParaRPr lang="es-CL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640080" y="704160"/>
            <a:ext cx="108806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5F8FA"/>
                </a:solidFill>
                <a:effectLst/>
                <a:uFillTx/>
                <a:latin typeface="Inter Display"/>
                <a:ea typeface="Inter Display"/>
              </a:rPr>
              <a:t>Dos referentes, dos aportes</a:t>
            </a:r>
            <a:endParaRPr lang="es-CL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649080" y="1252800"/>
            <a:ext cx="10880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Inspiraciones para la estética y la mecánica, no copias del producto</a:t>
            </a:r>
            <a:endParaRPr lang="es-C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0"/>
          <p:cNvSpPr/>
          <p:nvPr/>
        </p:nvSpPr>
        <p:spPr>
          <a:xfrm>
            <a:off x="694800" y="1636920"/>
            <a:ext cx="3804840" cy="4351680"/>
          </a:xfrm>
          <a:prstGeom prst="roundRect">
            <a:avLst>
              <a:gd name="adj" fmla="val 2521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1"/>
          <p:cNvSpPr/>
          <p:nvPr/>
        </p:nvSpPr>
        <p:spPr>
          <a:xfrm>
            <a:off x="6236280" y="1636920"/>
            <a:ext cx="3843360" cy="4351680"/>
          </a:xfrm>
          <a:prstGeom prst="roundRect">
            <a:avLst>
              <a:gd name="adj" fmla="val 2521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941760" y="1828800"/>
            <a:ext cx="4434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8FA"/>
                </a:solidFill>
                <a:effectLst/>
                <a:uFillTx/>
                <a:latin typeface="Inter Display"/>
                <a:ea typeface="Inter Display"/>
              </a:rPr>
              <a:t>ARMAGETRON</a:t>
            </a:r>
            <a:endParaRPr lang="es-C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3"/>
          <p:cNvSpPr/>
          <p:nvPr/>
        </p:nvSpPr>
        <p:spPr>
          <a:xfrm>
            <a:off x="951120" y="2258640"/>
            <a:ext cx="2019960" cy="328320"/>
          </a:xfrm>
          <a:prstGeom prst="roundRect">
            <a:avLst>
              <a:gd name="adj" fmla="val 33333"/>
            </a:avLst>
          </a:prstGeom>
          <a:solidFill>
            <a:srgbClr val="263B52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4"/>
          <p:cNvSpPr/>
          <p:nvPr/>
        </p:nvSpPr>
        <p:spPr>
          <a:xfrm>
            <a:off x="996840" y="2313360"/>
            <a:ext cx="1928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pc="51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REFERENCIA VISUAL</a:t>
            </a:r>
            <a:endParaRPr lang="es-CL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5"/>
          <p:cNvSpPr/>
          <p:nvPr/>
        </p:nvSpPr>
        <p:spPr>
          <a:xfrm>
            <a:off x="987480" y="4663440"/>
            <a:ext cx="458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Arenas abstractas, geometría simple</a:t>
            </a:r>
            <a:endParaRPr lang="es-CL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6"/>
          <p:cNvSpPr/>
          <p:nvPr/>
        </p:nvSpPr>
        <p:spPr>
          <a:xfrm>
            <a:off x="987480" y="4965120"/>
            <a:ext cx="45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y contrastes luminosos.</a:t>
            </a:r>
            <a:endParaRPr lang="es-CL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7"/>
          <p:cNvSpPr/>
          <p:nvPr/>
        </p:nvSpPr>
        <p:spPr>
          <a:xfrm>
            <a:off x="6510600" y="1828800"/>
            <a:ext cx="4608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8FA"/>
                </a:solidFill>
                <a:effectLst/>
                <a:uFillTx/>
                <a:latin typeface="Inter Display"/>
                <a:ea typeface="Inter Display"/>
              </a:rPr>
              <a:t>GLADIABOTS</a:t>
            </a:r>
            <a:endParaRPr lang="es-C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8"/>
          <p:cNvSpPr/>
          <p:nvPr/>
        </p:nvSpPr>
        <p:spPr>
          <a:xfrm>
            <a:off x="6519600" y="2258640"/>
            <a:ext cx="2303640" cy="328320"/>
          </a:xfrm>
          <a:prstGeom prst="roundRect">
            <a:avLst>
              <a:gd name="adj" fmla="val 33333"/>
            </a:avLst>
          </a:prstGeom>
          <a:solidFill>
            <a:srgbClr val="263B52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9"/>
          <p:cNvSpPr/>
          <p:nvPr/>
        </p:nvSpPr>
        <p:spPr>
          <a:xfrm>
            <a:off x="6565320" y="2313360"/>
            <a:ext cx="22122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pc="51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REFERENCIA MECÁNICA</a:t>
            </a:r>
            <a:endParaRPr lang="es-CL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5"/>
          <p:cNvSpPr/>
          <p:nvPr/>
        </p:nvSpPr>
        <p:spPr>
          <a:xfrm>
            <a:off x="6537960" y="4663440"/>
            <a:ext cx="460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Programar comportamientos y observar</a:t>
            </a:r>
            <a:endParaRPr lang="es-CL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56"/>
          <p:cNvSpPr/>
          <p:nvPr/>
        </p:nvSpPr>
        <p:spPr>
          <a:xfrm>
            <a:off x="6537960" y="4965120"/>
            <a:ext cx="4598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resultados para mejorar la estrategia.</a:t>
            </a:r>
            <a:endParaRPr lang="es-CL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57"/>
          <p:cNvSpPr/>
          <p:nvPr/>
        </p:nvSpPr>
        <p:spPr>
          <a:xfrm>
            <a:off x="923400" y="6126480"/>
            <a:ext cx="10277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Esquemas de elaboración propia; no son capturas de los videojuegos referidos.</a:t>
            </a:r>
            <a:endParaRPr lang="es-C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"/>
          <p:cNvPicPr/>
          <p:nvPr/>
        </p:nvPicPr>
        <p:blipFill>
          <a:blip r:embed="rId1"/>
          <a:stretch/>
        </p:blipFill>
        <p:spPr>
          <a:xfrm>
            <a:off x="987480" y="2700000"/>
            <a:ext cx="2617560" cy="196308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175" name=""/>
          <p:cNvPicPr/>
          <p:nvPr/>
        </p:nvPicPr>
        <p:blipFill>
          <a:blip r:embed="rId2"/>
          <a:stretch/>
        </p:blipFill>
        <p:spPr>
          <a:xfrm>
            <a:off x="6480000" y="2700000"/>
            <a:ext cx="3059640" cy="172116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B162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"/>
          <p:cNvSpPr/>
          <p:nvPr/>
        </p:nvSpPr>
        <p:spPr>
          <a:xfrm>
            <a:off x="640080" y="347400"/>
            <a:ext cx="383760" cy="360"/>
          </a:xfrm>
          <a:prstGeom prst="line">
            <a:avLst/>
          </a:prstGeom>
          <a:ln w="38100">
            <a:solidFill>
              <a:srgbClr val="B6E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1124640" y="210240"/>
            <a:ext cx="7268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pc="130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04 / HERRAMIENTAS</a:t>
            </a:r>
            <a:endParaRPr lang="es-CL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3"/>
          <p:cNvSpPr/>
          <p:nvPr/>
        </p:nvSpPr>
        <p:spPr>
          <a:xfrm>
            <a:off x="9665280" y="164520"/>
            <a:ext cx="1800720" cy="328320"/>
          </a:xfrm>
          <a:prstGeom prst="roundRect">
            <a:avLst>
              <a:gd name="adj" fmla="val 33333"/>
            </a:avLst>
          </a:prstGeom>
          <a:solidFill>
            <a:srgbClr val="213C3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4"/>
          <p:cNvSpPr/>
          <p:nvPr/>
        </p:nvSpPr>
        <p:spPr>
          <a:xfrm>
            <a:off x="9711000" y="219600"/>
            <a:ext cx="1709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pc="51" strike="noStrike">
                <a:solidFill>
                  <a:srgbClr val="B6E43B"/>
                </a:solidFill>
                <a:effectLst/>
                <a:uFillTx/>
                <a:latin typeface="Inter"/>
                <a:ea typeface="Inter"/>
              </a:rPr>
              <a:t>ÁNGEL</a:t>
            </a:r>
            <a:endParaRPr lang="es-CL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5"/>
          <p:cNvSpPr/>
          <p:nvPr/>
        </p:nvSpPr>
        <p:spPr>
          <a:xfrm>
            <a:off x="640080" y="6492240"/>
            <a:ext cx="10917720" cy="360"/>
          </a:xfrm>
          <a:prstGeom prst="line">
            <a:avLst/>
          </a:prstGeom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6"/>
          <p:cNvSpPr/>
          <p:nvPr/>
        </p:nvSpPr>
        <p:spPr>
          <a:xfrm>
            <a:off x="649080" y="6546960"/>
            <a:ext cx="54856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99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DIRECTIVA / CAPSTONE / FASE 2</a:t>
            </a:r>
            <a:endParaRPr lang="es-CL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7"/>
          <p:cNvSpPr/>
          <p:nvPr/>
        </p:nvSpPr>
        <p:spPr>
          <a:xfrm>
            <a:off x="10707480" y="6546960"/>
            <a:ext cx="7855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A8BAC5"/>
                </a:solidFill>
                <a:effectLst/>
                <a:uFillTx/>
                <a:latin typeface="DejaVu Sans Mono"/>
                <a:ea typeface="DejaVu Sans Mono"/>
              </a:rPr>
              <a:t>07 / 10</a:t>
            </a:r>
            <a:endParaRPr lang="es-CL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8"/>
          <p:cNvSpPr/>
          <p:nvPr/>
        </p:nvSpPr>
        <p:spPr>
          <a:xfrm>
            <a:off x="640080" y="704160"/>
            <a:ext cx="108806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5F8FA"/>
                </a:solidFill>
                <a:effectLst/>
                <a:uFillTx/>
                <a:latin typeface="Inter Display"/>
                <a:ea typeface="Inter Display"/>
              </a:rPr>
              <a:t>Herramientas del proyecto</a:t>
            </a:r>
            <a:endParaRPr lang="es-CL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0"/>
          <p:cNvSpPr/>
          <p:nvPr/>
        </p:nvSpPr>
        <p:spPr>
          <a:xfrm>
            <a:off x="713160" y="1774080"/>
            <a:ext cx="3465000" cy="1782360"/>
          </a:xfrm>
          <a:prstGeom prst="roundRect">
            <a:avLst>
              <a:gd name="adj" fmla="val 6154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1"/>
          <p:cNvSpPr/>
          <p:nvPr/>
        </p:nvSpPr>
        <p:spPr>
          <a:xfrm>
            <a:off x="896040" y="1974960"/>
            <a:ext cx="694080" cy="676080"/>
          </a:xfrm>
          <a:prstGeom prst="roundRect">
            <a:avLst>
              <a:gd name="adj" fmla="val 16216"/>
            </a:avLst>
          </a:prstGeom>
          <a:solidFill>
            <a:srgbClr val="29384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3"/>
          <p:cNvSpPr/>
          <p:nvPr/>
        </p:nvSpPr>
        <p:spPr>
          <a:xfrm>
            <a:off x="1755720" y="2048400"/>
            <a:ext cx="222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UNITY 6</a:t>
            </a:r>
            <a:endParaRPr lang="es-CL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4"/>
          <p:cNvSpPr/>
          <p:nvPr/>
        </p:nvSpPr>
        <p:spPr>
          <a:xfrm>
            <a:off x="923400" y="2862000"/>
            <a:ext cx="3044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Motor y builds para PC</a:t>
            </a:r>
            <a:endParaRPr lang="es-CL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5"/>
          <p:cNvSpPr/>
          <p:nvPr/>
        </p:nvSpPr>
        <p:spPr>
          <a:xfrm>
            <a:off x="4572000" y="1774080"/>
            <a:ext cx="3465000" cy="1782360"/>
          </a:xfrm>
          <a:prstGeom prst="roundRect">
            <a:avLst>
              <a:gd name="adj" fmla="val 6154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6"/>
          <p:cNvSpPr/>
          <p:nvPr/>
        </p:nvSpPr>
        <p:spPr>
          <a:xfrm>
            <a:off x="4754880" y="1974960"/>
            <a:ext cx="694080" cy="676080"/>
          </a:xfrm>
          <a:prstGeom prst="roundRect">
            <a:avLst>
              <a:gd name="adj" fmla="val 16216"/>
            </a:avLst>
          </a:prstGeom>
          <a:solidFill>
            <a:srgbClr val="29384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7"/>
          <p:cNvSpPr/>
          <p:nvPr/>
        </p:nvSpPr>
        <p:spPr>
          <a:xfrm>
            <a:off x="4809600" y="2039040"/>
            <a:ext cx="5662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B6E43B"/>
                </a:solidFill>
                <a:effectLst/>
                <a:uFillTx/>
                <a:latin typeface="DejaVu Sans Mono"/>
                <a:ea typeface="DejaVu Sans Mono"/>
              </a:rPr>
              <a:t>C#</a:t>
            </a:r>
            <a:endParaRPr lang="es-CL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8"/>
          <p:cNvSpPr/>
          <p:nvPr/>
        </p:nvSpPr>
        <p:spPr>
          <a:xfrm>
            <a:off x="5614560" y="2048400"/>
            <a:ext cx="222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C#</a:t>
            </a:r>
            <a:endParaRPr lang="es-CL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9"/>
          <p:cNvSpPr/>
          <p:nvPr/>
        </p:nvSpPr>
        <p:spPr>
          <a:xfrm>
            <a:off x="4782240" y="2862000"/>
            <a:ext cx="3044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Implementación del runtime</a:t>
            </a:r>
            <a:endParaRPr lang="es-CL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0"/>
          <p:cNvSpPr/>
          <p:nvPr/>
        </p:nvSpPr>
        <p:spPr>
          <a:xfrm>
            <a:off x="8430840" y="1774080"/>
            <a:ext cx="3465000" cy="1782360"/>
          </a:xfrm>
          <a:prstGeom prst="roundRect">
            <a:avLst>
              <a:gd name="adj" fmla="val 6154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1"/>
          <p:cNvSpPr/>
          <p:nvPr/>
        </p:nvSpPr>
        <p:spPr>
          <a:xfrm>
            <a:off x="8613720" y="1974960"/>
            <a:ext cx="694080" cy="676080"/>
          </a:xfrm>
          <a:prstGeom prst="roundRect">
            <a:avLst>
              <a:gd name="adj" fmla="val 16216"/>
            </a:avLst>
          </a:prstGeom>
          <a:solidFill>
            <a:srgbClr val="29384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3"/>
          <p:cNvSpPr/>
          <p:nvPr/>
        </p:nvSpPr>
        <p:spPr>
          <a:xfrm>
            <a:off x="9473040" y="2048400"/>
            <a:ext cx="222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Meets</a:t>
            </a:r>
            <a:endParaRPr lang="es-CL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4"/>
          <p:cNvSpPr/>
          <p:nvPr/>
        </p:nvSpPr>
        <p:spPr>
          <a:xfrm>
            <a:off x="8641080" y="2862000"/>
            <a:ext cx="3044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Editor, menús y controles</a:t>
            </a:r>
            <a:endParaRPr lang="es-CL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5"/>
          <p:cNvSpPr/>
          <p:nvPr/>
        </p:nvSpPr>
        <p:spPr>
          <a:xfrm>
            <a:off x="713160" y="3822120"/>
            <a:ext cx="3465000" cy="1782360"/>
          </a:xfrm>
          <a:prstGeom prst="roundRect">
            <a:avLst>
              <a:gd name="adj" fmla="val 6154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6"/>
          <p:cNvSpPr/>
          <p:nvPr/>
        </p:nvSpPr>
        <p:spPr>
          <a:xfrm>
            <a:off x="896040" y="4023360"/>
            <a:ext cx="694080" cy="676080"/>
          </a:xfrm>
          <a:prstGeom prst="roundRect">
            <a:avLst>
              <a:gd name="adj" fmla="val 16216"/>
            </a:avLst>
          </a:prstGeom>
          <a:solidFill>
            <a:srgbClr val="29384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8"/>
          <p:cNvSpPr/>
          <p:nvPr/>
        </p:nvSpPr>
        <p:spPr>
          <a:xfrm>
            <a:off x="1755720" y="4096440"/>
            <a:ext cx="222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GITHUB</a:t>
            </a:r>
            <a:endParaRPr lang="es-CL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9"/>
          <p:cNvSpPr/>
          <p:nvPr/>
        </p:nvSpPr>
        <p:spPr>
          <a:xfrm>
            <a:off x="923400" y="4910400"/>
            <a:ext cx="3044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Versionado y evidencias</a:t>
            </a:r>
            <a:endParaRPr lang="es-CL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30"/>
          <p:cNvSpPr/>
          <p:nvPr/>
        </p:nvSpPr>
        <p:spPr>
          <a:xfrm>
            <a:off x="4572000" y="3822120"/>
            <a:ext cx="3465000" cy="1782360"/>
          </a:xfrm>
          <a:prstGeom prst="roundRect">
            <a:avLst>
              <a:gd name="adj" fmla="val 6154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1"/>
          <p:cNvSpPr/>
          <p:nvPr/>
        </p:nvSpPr>
        <p:spPr>
          <a:xfrm>
            <a:off x="4754880" y="4023360"/>
            <a:ext cx="694080" cy="676080"/>
          </a:xfrm>
          <a:prstGeom prst="roundRect">
            <a:avLst>
              <a:gd name="adj" fmla="val 16216"/>
            </a:avLst>
          </a:prstGeom>
          <a:solidFill>
            <a:srgbClr val="29384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2"/>
          <p:cNvSpPr/>
          <p:nvPr/>
        </p:nvSpPr>
        <p:spPr>
          <a:xfrm>
            <a:off x="4809600" y="4087440"/>
            <a:ext cx="5662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3"/>
          <p:cNvSpPr/>
          <p:nvPr/>
        </p:nvSpPr>
        <p:spPr>
          <a:xfrm>
            <a:off x="5614560" y="4096440"/>
            <a:ext cx="222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EXCALIDRAW</a:t>
            </a:r>
            <a:endParaRPr lang="es-CL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4"/>
          <p:cNvSpPr/>
          <p:nvPr/>
        </p:nvSpPr>
        <p:spPr>
          <a:xfrm>
            <a:off x="4782240" y="4910400"/>
            <a:ext cx="3044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Diseño de interfaces</a:t>
            </a:r>
            <a:endParaRPr lang="es-CL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5"/>
          <p:cNvSpPr/>
          <p:nvPr/>
        </p:nvSpPr>
        <p:spPr>
          <a:xfrm>
            <a:off x="8430840" y="3822120"/>
            <a:ext cx="3465000" cy="1782360"/>
          </a:xfrm>
          <a:prstGeom prst="roundRect">
            <a:avLst>
              <a:gd name="adj" fmla="val 6154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36"/>
          <p:cNvSpPr/>
          <p:nvPr/>
        </p:nvSpPr>
        <p:spPr>
          <a:xfrm>
            <a:off x="8613720" y="4023360"/>
            <a:ext cx="694080" cy="676080"/>
          </a:xfrm>
          <a:prstGeom prst="roundRect">
            <a:avLst>
              <a:gd name="adj" fmla="val 16216"/>
            </a:avLst>
          </a:prstGeom>
          <a:solidFill>
            <a:srgbClr val="29384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7"/>
          <p:cNvSpPr/>
          <p:nvPr/>
        </p:nvSpPr>
        <p:spPr>
          <a:xfrm>
            <a:off x="8668440" y="4087440"/>
            <a:ext cx="5662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67E0A4"/>
                </a:solidFill>
                <a:effectLst/>
                <a:uFillTx/>
                <a:latin typeface="DejaVu Sans Mono"/>
                <a:ea typeface="DejaVu Sans Mono"/>
              </a:rPr>
              <a:t>S</a:t>
            </a:r>
            <a:endParaRPr lang="es-CL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8"/>
          <p:cNvSpPr/>
          <p:nvPr/>
        </p:nvSpPr>
        <p:spPr>
          <a:xfrm>
            <a:off x="9473040" y="4096440"/>
            <a:ext cx="222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BACKLOG + GANTT</a:t>
            </a:r>
            <a:endParaRPr lang="es-CL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9"/>
          <p:cNvSpPr/>
          <p:nvPr/>
        </p:nvSpPr>
        <p:spPr>
          <a:xfrm>
            <a:off x="8641080" y="4910400"/>
            <a:ext cx="3044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Planificación y seguimiento</a:t>
            </a:r>
            <a:endParaRPr lang="es-CL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2" name=""/>
          <p:cNvPicPr/>
          <p:nvPr/>
        </p:nvPicPr>
        <p:blipFill>
          <a:blip r:embed="rId1"/>
          <a:stretch/>
        </p:blipFill>
        <p:spPr>
          <a:xfrm>
            <a:off x="8665920" y="2096280"/>
            <a:ext cx="583920" cy="48132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213" name=""/>
          <p:cNvPicPr/>
          <p:nvPr/>
        </p:nvPicPr>
        <p:blipFill>
          <a:blip r:embed="rId2"/>
          <a:stretch/>
        </p:blipFill>
        <p:spPr>
          <a:xfrm>
            <a:off x="938880" y="1999800"/>
            <a:ext cx="651240" cy="65124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214" name=""/>
          <p:cNvPicPr/>
          <p:nvPr/>
        </p:nvPicPr>
        <p:blipFill>
          <a:blip r:embed="rId3"/>
          <a:stretch/>
        </p:blipFill>
        <p:spPr>
          <a:xfrm>
            <a:off x="956160" y="4065480"/>
            <a:ext cx="633960" cy="63396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215" name=""/>
          <p:cNvPicPr/>
          <p:nvPr/>
        </p:nvPicPr>
        <p:blipFill>
          <a:blip r:embed="rId4"/>
          <a:stretch/>
        </p:blipFill>
        <p:spPr>
          <a:xfrm>
            <a:off x="4787640" y="4087440"/>
            <a:ext cx="612000" cy="612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B162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"/>
          <p:cNvSpPr/>
          <p:nvPr/>
        </p:nvSpPr>
        <p:spPr>
          <a:xfrm>
            <a:off x="640080" y="347400"/>
            <a:ext cx="383760" cy="360"/>
          </a:xfrm>
          <a:prstGeom prst="line">
            <a:avLst/>
          </a:prstGeom>
          <a:ln w="38100">
            <a:solidFill>
              <a:srgbClr val="B6E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"/>
          <p:cNvSpPr/>
          <p:nvPr/>
        </p:nvSpPr>
        <p:spPr>
          <a:xfrm>
            <a:off x="1124640" y="210240"/>
            <a:ext cx="7268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pc="130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05 / ARQUITECTURA</a:t>
            </a:r>
            <a:endParaRPr lang="es-CL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3"/>
          <p:cNvSpPr/>
          <p:nvPr/>
        </p:nvSpPr>
        <p:spPr>
          <a:xfrm>
            <a:off x="9665280" y="164520"/>
            <a:ext cx="1800720" cy="328320"/>
          </a:xfrm>
          <a:prstGeom prst="roundRect">
            <a:avLst>
              <a:gd name="adj" fmla="val 33333"/>
            </a:avLst>
          </a:prstGeom>
          <a:solidFill>
            <a:srgbClr val="213C3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4"/>
          <p:cNvSpPr/>
          <p:nvPr/>
        </p:nvSpPr>
        <p:spPr>
          <a:xfrm>
            <a:off x="9711000" y="219600"/>
            <a:ext cx="1709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pc="51" strike="noStrike">
                <a:solidFill>
                  <a:srgbClr val="B6E43B"/>
                </a:solidFill>
                <a:effectLst/>
                <a:uFillTx/>
                <a:latin typeface="Inter"/>
                <a:ea typeface="Inter"/>
              </a:rPr>
              <a:t>ÁNGEL</a:t>
            </a:r>
            <a:endParaRPr lang="es-CL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5"/>
          <p:cNvSpPr/>
          <p:nvPr/>
        </p:nvSpPr>
        <p:spPr>
          <a:xfrm>
            <a:off x="640080" y="6492240"/>
            <a:ext cx="10917720" cy="360"/>
          </a:xfrm>
          <a:prstGeom prst="line">
            <a:avLst/>
          </a:prstGeom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6"/>
          <p:cNvSpPr/>
          <p:nvPr/>
        </p:nvSpPr>
        <p:spPr>
          <a:xfrm>
            <a:off x="649080" y="6546960"/>
            <a:ext cx="54856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99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DIRECTIVA / CAPSTONE / FASE 2</a:t>
            </a:r>
            <a:endParaRPr lang="es-CL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7"/>
          <p:cNvSpPr/>
          <p:nvPr/>
        </p:nvSpPr>
        <p:spPr>
          <a:xfrm>
            <a:off x="10707480" y="6546960"/>
            <a:ext cx="7855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A8BAC5"/>
                </a:solidFill>
                <a:effectLst/>
                <a:uFillTx/>
                <a:latin typeface="DejaVu Sans Mono"/>
                <a:ea typeface="DejaVu Sans Mono"/>
              </a:rPr>
              <a:t>08 / 10</a:t>
            </a:r>
            <a:endParaRPr lang="es-CL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8"/>
          <p:cNvSpPr/>
          <p:nvPr/>
        </p:nvSpPr>
        <p:spPr>
          <a:xfrm>
            <a:off x="640080" y="704160"/>
            <a:ext cx="108806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5F8FA"/>
                </a:solidFill>
                <a:effectLst/>
                <a:uFillTx/>
                <a:latin typeface="Inter Display"/>
                <a:ea typeface="Inter Display"/>
              </a:rPr>
              <a:t>Arquitectura: del código a la simulación</a:t>
            </a:r>
            <a:endParaRPr lang="es-CL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0"/>
          <p:cNvSpPr/>
          <p:nvPr/>
        </p:nvSpPr>
        <p:spPr>
          <a:xfrm>
            <a:off x="749880" y="1691640"/>
            <a:ext cx="1142280" cy="328320"/>
          </a:xfrm>
          <a:prstGeom prst="roundRect">
            <a:avLst>
              <a:gd name="adj" fmla="val 33333"/>
            </a:avLst>
          </a:prstGeom>
          <a:solidFill>
            <a:srgbClr val="24443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1"/>
          <p:cNvSpPr/>
          <p:nvPr/>
        </p:nvSpPr>
        <p:spPr>
          <a:xfrm>
            <a:off x="795600" y="1746360"/>
            <a:ext cx="10508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pc="51" strike="noStrike">
                <a:solidFill>
                  <a:srgbClr val="67E0A4"/>
                </a:solidFill>
                <a:effectLst/>
                <a:uFillTx/>
                <a:latin typeface="Inter"/>
                <a:ea typeface="Inter"/>
              </a:rPr>
              <a:t>OPERATIVO</a:t>
            </a:r>
            <a:endParaRPr lang="es-CL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2"/>
          <p:cNvSpPr/>
          <p:nvPr/>
        </p:nvSpPr>
        <p:spPr>
          <a:xfrm>
            <a:off x="2057400" y="1719000"/>
            <a:ext cx="37483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Ruta actual del prototipo</a:t>
            </a:r>
            <a:endParaRPr lang="es-C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3"/>
          <p:cNvSpPr/>
          <p:nvPr/>
        </p:nvSpPr>
        <p:spPr>
          <a:xfrm>
            <a:off x="758880" y="2130480"/>
            <a:ext cx="3108240" cy="1242720"/>
          </a:xfrm>
          <a:prstGeom prst="roundRect">
            <a:avLst>
              <a:gd name="adj" fmla="val 8824"/>
            </a:avLst>
          </a:prstGeom>
          <a:solidFill>
            <a:srgbClr val="1B2C39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4"/>
          <p:cNvSpPr/>
          <p:nvPr/>
        </p:nvSpPr>
        <p:spPr>
          <a:xfrm>
            <a:off x="758880" y="2130480"/>
            <a:ext cx="59760" cy="1242720"/>
          </a:xfrm>
          <a:prstGeom prst="rect">
            <a:avLst/>
          </a:prstGeom>
          <a:solidFill>
            <a:srgbClr val="67E0A4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880" tIns="45000" rIns="2988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5"/>
          <p:cNvSpPr/>
          <p:nvPr/>
        </p:nvSpPr>
        <p:spPr>
          <a:xfrm>
            <a:off x="932760" y="2295000"/>
            <a:ext cx="28249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Editor de código</a:t>
            </a:r>
            <a:endParaRPr lang="es-CL" sz="1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6"/>
          <p:cNvSpPr/>
          <p:nvPr/>
        </p:nvSpPr>
        <p:spPr>
          <a:xfrm>
            <a:off x="932760" y="2752200"/>
            <a:ext cx="28249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Crea archivos .dil</a:t>
            </a:r>
            <a:endParaRPr lang="es-CL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7"/>
          <p:cNvSpPr/>
          <p:nvPr/>
        </p:nvSpPr>
        <p:spPr>
          <a:xfrm>
            <a:off x="4014000" y="2743200"/>
            <a:ext cx="402480" cy="360"/>
          </a:xfrm>
          <a:prstGeom prst="line">
            <a:avLst/>
          </a:prstGeom>
          <a:ln w="25400">
            <a:solidFill>
              <a:srgbClr val="67E0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8"/>
          <p:cNvSpPr/>
          <p:nvPr/>
        </p:nvSpPr>
        <p:spPr>
          <a:xfrm>
            <a:off x="4389120" y="2651760"/>
            <a:ext cx="163800" cy="182160"/>
          </a:xfrm>
          <a:prstGeom prst="chevron">
            <a:avLst>
              <a:gd name="adj" fmla="val 50000"/>
            </a:avLst>
          </a:prstGeom>
          <a:solidFill>
            <a:srgbClr val="67E0A4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9"/>
          <p:cNvSpPr/>
          <p:nvPr/>
        </p:nvSpPr>
        <p:spPr>
          <a:xfrm>
            <a:off x="4690800" y="2130480"/>
            <a:ext cx="2815560" cy="1242720"/>
          </a:xfrm>
          <a:prstGeom prst="roundRect">
            <a:avLst>
              <a:gd name="adj" fmla="val 8824"/>
            </a:avLst>
          </a:prstGeom>
          <a:solidFill>
            <a:srgbClr val="1B2C39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0"/>
          <p:cNvSpPr/>
          <p:nvPr/>
        </p:nvSpPr>
        <p:spPr>
          <a:xfrm>
            <a:off x="4690800" y="2130480"/>
            <a:ext cx="59760" cy="1242720"/>
          </a:xfrm>
          <a:prstGeom prst="rect">
            <a:avLst/>
          </a:prstGeom>
          <a:solidFill>
            <a:srgbClr val="67E0A4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880" tIns="45000" rIns="2988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1"/>
          <p:cNvSpPr/>
          <p:nvPr/>
        </p:nvSpPr>
        <p:spPr>
          <a:xfrm>
            <a:off x="4864680" y="2295000"/>
            <a:ext cx="25322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Parser DIL</a:t>
            </a:r>
            <a:endParaRPr lang="es-CL" sz="1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2"/>
          <p:cNvSpPr/>
          <p:nvPr/>
        </p:nvSpPr>
        <p:spPr>
          <a:xfrm>
            <a:off x="4864680" y="2752200"/>
            <a:ext cx="25322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Carga el programa</a:t>
            </a:r>
            <a:endParaRPr lang="es-CL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3"/>
          <p:cNvSpPr/>
          <p:nvPr/>
        </p:nvSpPr>
        <p:spPr>
          <a:xfrm>
            <a:off x="7653240" y="2743200"/>
            <a:ext cx="393480" cy="360"/>
          </a:xfrm>
          <a:prstGeom prst="line">
            <a:avLst/>
          </a:prstGeom>
          <a:ln w="25400">
            <a:solidFill>
              <a:srgbClr val="67E0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4"/>
          <p:cNvSpPr/>
          <p:nvPr/>
        </p:nvSpPr>
        <p:spPr>
          <a:xfrm>
            <a:off x="8019360" y="2651760"/>
            <a:ext cx="163800" cy="182160"/>
          </a:xfrm>
          <a:prstGeom prst="chevron">
            <a:avLst>
              <a:gd name="adj" fmla="val 50000"/>
            </a:avLst>
          </a:prstGeom>
          <a:solidFill>
            <a:srgbClr val="67E0A4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5"/>
          <p:cNvSpPr/>
          <p:nvPr/>
        </p:nvSpPr>
        <p:spPr>
          <a:xfrm>
            <a:off x="8284320" y="2130480"/>
            <a:ext cx="3135600" cy="1242720"/>
          </a:xfrm>
          <a:prstGeom prst="roundRect">
            <a:avLst>
              <a:gd name="adj" fmla="val 8824"/>
            </a:avLst>
          </a:prstGeom>
          <a:solidFill>
            <a:srgbClr val="1B2C39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6"/>
          <p:cNvSpPr/>
          <p:nvPr/>
        </p:nvSpPr>
        <p:spPr>
          <a:xfrm>
            <a:off x="8284320" y="2130480"/>
            <a:ext cx="59760" cy="1242720"/>
          </a:xfrm>
          <a:prstGeom prst="rect">
            <a:avLst/>
          </a:prstGeom>
          <a:solidFill>
            <a:srgbClr val="67E0A4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880" tIns="45000" rIns="2988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7"/>
          <p:cNvSpPr/>
          <p:nvPr/>
        </p:nvSpPr>
        <p:spPr>
          <a:xfrm>
            <a:off x="8458200" y="2295000"/>
            <a:ext cx="2852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Máquina virtual</a:t>
            </a:r>
            <a:endParaRPr lang="es-CL" sz="1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8"/>
          <p:cNvSpPr/>
          <p:nvPr/>
        </p:nvSpPr>
        <p:spPr>
          <a:xfrm>
            <a:off x="8458200" y="2752200"/>
            <a:ext cx="2852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Ejecuta, imprime y depura</a:t>
            </a:r>
            <a:endParaRPr lang="es-CL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9"/>
          <p:cNvSpPr/>
          <p:nvPr/>
        </p:nvSpPr>
        <p:spPr>
          <a:xfrm>
            <a:off x="767880" y="3739680"/>
            <a:ext cx="10625400" cy="360"/>
          </a:xfrm>
          <a:prstGeom prst="line">
            <a:avLst/>
          </a:prstGeom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30"/>
          <p:cNvSpPr/>
          <p:nvPr/>
        </p:nvSpPr>
        <p:spPr>
          <a:xfrm>
            <a:off x="758880" y="4050720"/>
            <a:ext cx="1690920" cy="328320"/>
          </a:xfrm>
          <a:prstGeom prst="roundRect">
            <a:avLst>
              <a:gd name="adj" fmla="val 33333"/>
            </a:avLst>
          </a:prstGeom>
          <a:solidFill>
            <a:srgbClr val="4A403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1"/>
          <p:cNvSpPr/>
          <p:nvPr/>
        </p:nvSpPr>
        <p:spPr>
          <a:xfrm>
            <a:off x="804600" y="4105800"/>
            <a:ext cx="1599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pc="51" strike="noStrike">
                <a:solidFill>
                  <a:srgbClr val="FFD05C"/>
                </a:solidFill>
                <a:effectLst/>
                <a:uFillTx/>
                <a:latin typeface="Inter"/>
                <a:ea typeface="Inter"/>
              </a:rPr>
              <a:t>EN DESARROLLO</a:t>
            </a:r>
            <a:endParaRPr lang="es-CL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32"/>
          <p:cNvSpPr/>
          <p:nvPr/>
        </p:nvSpPr>
        <p:spPr>
          <a:xfrm>
            <a:off x="2688480" y="408744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Ruta objetivo</a:t>
            </a:r>
            <a:endParaRPr lang="es-C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33"/>
          <p:cNvSpPr/>
          <p:nvPr/>
        </p:nvSpPr>
        <p:spPr>
          <a:xfrm>
            <a:off x="749880" y="4636080"/>
            <a:ext cx="2586960" cy="1133280"/>
          </a:xfrm>
          <a:prstGeom prst="roundRect">
            <a:avLst>
              <a:gd name="adj" fmla="val 9677"/>
            </a:avLst>
          </a:prstGeom>
          <a:solidFill>
            <a:srgbClr val="1B2C39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34"/>
          <p:cNvSpPr/>
          <p:nvPr/>
        </p:nvSpPr>
        <p:spPr>
          <a:xfrm>
            <a:off x="749880" y="4636080"/>
            <a:ext cx="59760" cy="1133280"/>
          </a:xfrm>
          <a:prstGeom prst="rect">
            <a:avLst/>
          </a:prstGeom>
          <a:solidFill>
            <a:srgbClr val="FFD05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880" tIns="45000" rIns="2988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35"/>
          <p:cNvSpPr/>
          <p:nvPr/>
        </p:nvSpPr>
        <p:spPr>
          <a:xfrm>
            <a:off x="923400" y="4800600"/>
            <a:ext cx="2303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DSCRIPT</a:t>
            </a:r>
            <a:endParaRPr lang="es-CL" sz="1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6"/>
          <p:cNvSpPr/>
          <p:nvPr/>
        </p:nvSpPr>
        <p:spPr>
          <a:xfrm>
            <a:off x="923400" y="5257800"/>
            <a:ext cx="2303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Lenguaje del jugador</a:t>
            </a:r>
            <a:endParaRPr lang="es-CL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37"/>
          <p:cNvSpPr/>
          <p:nvPr/>
        </p:nvSpPr>
        <p:spPr>
          <a:xfrm>
            <a:off x="3355560" y="5212080"/>
            <a:ext cx="164880" cy="360"/>
          </a:xfrm>
          <a:prstGeom prst="line">
            <a:avLst/>
          </a:prstGeom>
          <a:ln w="25400">
            <a:solidFill>
              <a:srgbClr val="697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440" tIns="-44640" rIns="8244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38"/>
          <p:cNvSpPr/>
          <p:nvPr/>
        </p:nvSpPr>
        <p:spPr>
          <a:xfrm>
            <a:off x="3493080" y="5120640"/>
            <a:ext cx="163800" cy="182160"/>
          </a:xfrm>
          <a:prstGeom prst="chevron">
            <a:avLst>
              <a:gd name="adj" fmla="val 50000"/>
            </a:avLst>
          </a:prstGeom>
          <a:solidFill>
            <a:srgbClr val="697E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9"/>
          <p:cNvSpPr/>
          <p:nvPr/>
        </p:nvSpPr>
        <p:spPr>
          <a:xfrm>
            <a:off x="3611880" y="4636080"/>
            <a:ext cx="2586960" cy="1133280"/>
          </a:xfrm>
          <a:prstGeom prst="roundRect">
            <a:avLst>
              <a:gd name="adj" fmla="val 9677"/>
            </a:avLst>
          </a:prstGeom>
          <a:solidFill>
            <a:srgbClr val="1B2C39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40"/>
          <p:cNvSpPr/>
          <p:nvPr/>
        </p:nvSpPr>
        <p:spPr>
          <a:xfrm>
            <a:off x="3611880" y="4636080"/>
            <a:ext cx="59760" cy="1133280"/>
          </a:xfrm>
          <a:prstGeom prst="rect">
            <a:avLst/>
          </a:prstGeom>
          <a:solidFill>
            <a:srgbClr val="FFD05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880" tIns="45000" rIns="2988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41"/>
          <p:cNvSpPr/>
          <p:nvPr/>
        </p:nvSpPr>
        <p:spPr>
          <a:xfrm>
            <a:off x="3785760" y="4800600"/>
            <a:ext cx="2303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COMPILADOR</a:t>
            </a:r>
            <a:endParaRPr lang="es-CL" sz="1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42"/>
          <p:cNvSpPr/>
          <p:nvPr/>
        </p:nvSpPr>
        <p:spPr>
          <a:xfrm>
            <a:off x="3785760" y="5257800"/>
            <a:ext cx="2303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DScript a DIL</a:t>
            </a:r>
            <a:endParaRPr lang="es-CL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43"/>
          <p:cNvSpPr/>
          <p:nvPr/>
        </p:nvSpPr>
        <p:spPr>
          <a:xfrm>
            <a:off x="6217920" y="5212080"/>
            <a:ext cx="164520" cy="360"/>
          </a:xfrm>
          <a:prstGeom prst="line">
            <a:avLst/>
          </a:prstGeom>
          <a:ln w="25400">
            <a:solidFill>
              <a:srgbClr val="697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-44640" rIns="8208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44"/>
          <p:cNvSpPr/>
          <p:nvPr/>
        </p:nvSpPr>
        <p:spPr>
          <a:xfrm>
            <a:off x="6355080" y="5120640"/>
            <a:ext cx="163800" cy="182160"/>
          </a:xfrm>
          <a:prstGeom prst="chevron">
            <a:avLst>
              <a:gd name="adj" fmla="val 50000"/>
            </a:avLst>
          </a:prstGeom>
          <a:solidFill>
            <a:srgbClr val="697E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45"/>
          <p:cNvSpPr/>
          <p:nvPr/>
        </p:nvSpPr>
        <p:spPr>
          <a:xfrm>
            <a:off x="6473880" y="4636080"/>
            <a:ext cx="2586960" cy="1133280"/>
          </a:xfrm>
          <a:prstGeom prst="roundRect">
            <a:avLst>
              <a:gd name="adj" fmla="val 9677"/>
            </a:avLst>
          </a:prstGeom>
          <a:solidFill>
            <a:srgbClr val="1B2C39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46"/>
          <p:cNvSpPr/>
          <p:nvPr/>
        </p:nvSpPr>
        <p:spPr>
          <a:xfrm>
            <a:off x="6473880" y="4636080"/>
            <a:ext cx="59760" cy="1133280"/>
          </a:xfrm>
          <a:prstGeom prst="rect">
            <a:avLst/>
          </a:prstGeom>
          <a:solidFill>
            <a:srgbClr val="67E0A4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880" tIns="45000" rIns="2988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47"/>
          <p:cNvSpPr/>
          <p:nvPr/>
        </p:nvSpPr>
        <p:spPr>
          <a:xfrm>
            <a:off x="6647760" y="4800600"/>
            <a:ext cx="2303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VM</a:t>
            </a:r>
            <a:endParaRPr lang="es-CL" sz="1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48"/>
          <p:cNvSpPr/>
          <p:nvPr/>
        </p:nvSpPr>
        <p:spPr>
          <a:xfrm>
            <a:off x="6647760" y="5257800"/>
            <a:ext cx="2303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Ejecución</a:t>
            </a:r>
            <a:endParaRPr lang="es-CL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49"/>
          <p:cNvSpPr/>
          <p:nvPr/>
        </p:nvSpPr>
        <p:spPr>
          <a:xfrm>
            <a:off x="9079920" y="5212080"/>
            <a:ext cx="164520" cy="360"/>
          </a:xfrm>
          <a:prstGeom prst="line">
            <a:avLst/>
          </a:prstGeom>
          <a:ln w="25400">
            <a:solidFill>
              <a:srgbClr val="697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-44640" rIns="8208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50"/>
          <p:cNvSpPr/>
          <p:nvPr/>
        </p:nvSpPr>
        <p:spPr>
          <a:xfrm>
            <a:off x="9217080" y="5120640"/>
            <a:ext cx="163800" cy="182160"/>
          </a:xfrm>
          <a:prstGeom prst="chevron">
            <a:avLst>
              <a:gd name="adj" fmla="val 50000"/>
            </a:avLst>
          </a:prstGeom>
          <a:solidFill>
            <a:srgbClr val="697E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51"/>
          <p:cNvSpPr/>
          <p:nvPr/>
        </p:nvSpPr>
        <p:spPr>
          <a:xfrm>
            <a:off x="9335880" y="4636080"/>
            <a:ext cx="2586960" cy="1133280"/>
          </a:xfrm>
          <a:prstGeom prst="roundRect">
            <a:avLst>
              <a:gd name="adj" fmla="val 9677"/>
            </a:avLst>
          </a:prstGeom>
          <a:solidFill>
            <a:srgbClr val="1B2C39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52"/>
          <p:cNvSpPr/>
          <p:nvPr/>
        </p:nvSpPr>
        <p:spPr>
          <a:xfrm>
            <a:off x="9335880" y="4636080"/>
            <a:ext cx="59760" cy="1133280"/>
          </a:xfrm>
          <a:prstGeom prst="rect">
            <a:avLst/>
          </a:prstGeom>
          <a:solidFill>
            <a:srgbClr val="697E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880" tIns="45000" rIns="2988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53"/>
          <p:cNvSpPr/>
          <p:nvPr/>
        </p:nvSpPr>
        <p:spPr>
          <a:xfrm>
            <a:off x="9509760" y="4800600"/>
            <a:ext cx="2303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0" b="1" u="none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SIMULACIÓN</a:t>
            </a:r>
            <a:endParaRPr lang="es-CL" sz="1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54"/>
          <p:cNvSpPr/>
          <p:nvPr/>
        </p:nvSpPr>
        <p:spPr>
          <a:xfrm>
            <a:off x="9509760" y="5257800"/>
            <a:ext cx="2303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Unidades y Nexo</a:t>
            </a:r>
            <a:endParaRPr lang="es-CL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0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B162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"/>
          <p:cNvSpPr/>
          <p:nvPr/>
        </p:nvSpPr>
        <p:spPr>
          <a:xfrm>
            <a:off x="640080" y="347400"/>
            <a:ext cx="383760" cy="360"/>
          </a:xfrm>
          <a:prstGeom prst="line">
            <a:avLst/>
          </a:prstGeom>
          <a:ln w="38100">
            <a:solidFill>
              <a:srgbClr val="B6E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"/>
          <p:cNvSpPr/>
          <p:nvPr/>
        </p:nvSpPr>
        <p:spPr>
          <a:xfrm>
            <a:off x="1124640" y="210240"/>
            <a:ext cx="7268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pc="130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06 / AVANCE</a:t>
            </a:r>
            <a:endParaRPr lang="es-CL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3"/>
          <p:cNvSpPr/>
          <p:nvPr/>
        </p:nvSpPr>
        <p:spPr>
          <a:xfrm>
            <a:off x="9665280" y="164520"/>
            <a:ext cx="1800720" cy="328320"/>
          </a:xfrm>
          <a:prstGeom prst="roundRect">
            <a:avLst>
              <a:gd name="adj" fmla="val 33333"/>
            </a:avLst>
          </a:prstGeom>
          <a:solidFill>
            <a:srgbClr val="213C3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4"/>
          <p:cNvSpPr/>
          <p:nvPr/>
        </p:nvSpPr>
        <p:spPr>
          <a:xfrm>
            <a:off x="9711000" y="219600"/>
            <a:ext cx="1709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pc="51" strike="noStrike">
                <a:solidFill>
                  <a:srgbClr val="B6E43B"/>
                </a:solidFill>
                <a:effectLst/>
                <a:uFillTx/>
                <a:latin typeface="Inter"/>
                <a:ea typeface="Inter"/>
              </a:rPr>
              <a:t>ÁNGEL + ÁLVARO</a:t>
            </a:r>
            <a:endParaRPr lang="es-CL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5"/>
          <p:cNvSpPr/>
          <p:nvPr/>
        </p:nvSpPr>
        <p:spPr>
          <a:xfrm>
            <a:off x="640080" y="6492240"/>
            <a:ext cx="10917720" cy="360"/>
          </a:xfrm>
          <a:prstGeom prst="line">
            <a:avLst/>
          </a:prstGeom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6"/>
          <p:cNvSpPr/>
          <p:nvPr/>
        </p:nvSpPr>
        <p:spPr>
          <a:xfrm>
            <a:off x="649080" y="6546960"/>
            <a:ext cx="54856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99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DIRECTIVA / CAPSTONE / FASE 2</a:t>
            </a:r>
            <a:endParaRPr lang="es-CL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7"/>
          <p:cNvSpPr/>
          <p:nvPr/>
        </p:nvSpPr>
        <p:spPr>
          <a:xfrm>
            <a:off x="10707480" y="6546960"/>
            <a:ext cx="7855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A8BAC5"/>
                </a:solidFill>
                <a:effectLst/>
                <a:uFillTx/>
                <a:latin typeface="DejaVu Sans Mono"/>
                <a:ea typeface="DejaVu Sans Mono"/>
              </a:rPr>
              <a:t>09 / 10</a:t>
            </a:r>
            <a:endParaRPr lang="es-CL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8"/>
          <p:cNvSpPr/>
          <p:nvPr/>
        </p:nvSpPr>
        <p:spPr>
          <a:xfrm>
            <a:off x="640080" y="704160"/>
            <a:ext cx="108806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5F8FA"/>
                </a:solidFill>
                <a:effectLst/>
                <a:uFillTx/>
                <a:latin typeface="Inter Display"/>
                <a:ea typeface="Inter Display"/>
              </a:rPr>
              <a:t>Avance actual: demo en vivo</a:t>
            </a:r>
            <a:endParaRPr lang="es-CL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9"/>
          <p:cNvSpPr/>
          <p:nvPr/>
        </p:nvSpPr>
        <p:spPr>
          <a:xfrm>
            <a:off x="649080" y="1252800"/>
            <a:ext cx="10880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Ángel explica el avance técnico; Álvaro muestra el build</a:t>
            </a:r>
            <a:endParaRPr lang="es-C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0"/>
          <p:cNvSpPr/>
          <p:nvPr/>
        </p:nvSpPr>
        <p:spPr>
          <a:xfrm>
            <a:off x="731520" y="1700640"/>
            <a:ext cx="3958560" cy="4379400"/>
          </a:xfrm>
          <a:prstGeom prst="roundRect">
            <a:avLst>
              <a:gd name="adj" fmla="val 2771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1"/>
          <p:cNvSpPr/>
          <p:nvPr/>
        </p:nvSpPr>
        <p:spPr>
          <a:xfrm>
            <a:off x="1024200" y="1947600"/>
            <a:ext cx="1873800" cy="328320"/>
          </a:xfrm>
          <a:prstGeom prst="roundRect">
            <a:avLst>
              <a:gd name="adj" fmla="val 33333"/>
            </a:avLst>
          </a:prstGeom>
          <a:solidFill>
            <a:srgbClr val="264333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2"/>
          <p:cNvSpPr/>
          <p:nvPr/>
        </p:nvSpPr>
        <p:spPr>
          <a:xfrm>
            <a:off x="1069920" y="2002680"/>
            <a:ext cx="17823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pc="51" strike="noStrike">
                <a:solidFill>
                  <a:srgbClr val="B6E43B"/>
                </a:solidFill>
                <a:effectLst/>
                <a:uFillTx/>
                <a:latin typeface="Inter"/>
                <a:ea typeface="Inter"/>
              </a:rPr>
              <a:t>DEMO EN VIVO</a:t>
            </a:r>
            <a:endParaRPr lang="es-CL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3"/>
          <p:cNvSpPr/>
          <p:nvPr/>
        </p:nvSpPr>
        <p:spPr>
          <a:xfrm>
            <a:off x="1024200" y="2633400"/>
            <a:ext cx="3336840" cy="73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8FA"/>
                </a:solidFill>
                <a:effectLst/>
                <a:uFillTx/>
                <a:latin typeface="Inter Display"/>
                <a:ea typeface="Inter Display"/>
              </a:rPr>
              <a:t>Lo que ya podemos mostrar</a:t>
            </a:r>
            <a:endParaRPr lang="es-C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14"/>
          <p:cNvSpPr/>
          <p:nvPr/>
        </p:nvSpPr>
        <p:spPr>
          <a:xfrm>
            <a:off x="1069920" y="3620880"/>
            <a:ext cx="109080" cy="109080"/>
          </a:xfrm>
          <a:prstGeom prst="ellipse">
            <a:avLst/>
          </a:prstGeom>
          <a:solidFill>
            <a:srgbClr val="67E0A4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32760" rIns="54720" bIns="3276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5"/>
          <p:cNvSpPr/>
          <p:nvPr/>
        </p:nvSpPr>
        <p:spPr>
          <a:xfrm>
            <a:off x="1307520" y="3538800"/>
            <a:ext cx="306252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Menú, niveles y opciones</a:t>
            </a:r>
            <a:endParaRPr lang="es-CL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6"/>
          <p:cNvSpPr/>
          <p:nvPr/>
        </p:nvSpPr>
        <p:spPr>
          <a:xfrm>
            <a:off x="1069920" y="4087440"/>
            <a:ext cx="109080" cy="109080"/>
          </a:xfrm>
          <a:prstGeom prst="ellipse">
            <a:avLst/>
          </a:prstGeom>
          <a:solidFill>
            <a:srgbClr val="67E0A4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32760" rIns="54720" bIns="3276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7"/>
          <p:cNvSpPr/>
          <p:nvPr/>
        </p:nvSpPr>
        <p:spPr>
          <a:xfrm>
            <a:off x="1307520" y="4005000"/>
            <a:ext cx="306252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Editor y explorador de archivos</a:t>
            </a:r>
            <a:endParaRPr lang="es-CL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8"/>
          <p:cNvSpPr/>
          <p:nvPr/>
        </p:nvSpPr>
        <p:spPr>
          <a:xfrm>
            <a:off x="1069920" y="4553640"/>
            <a:ext cx="109080" cy="109080"/>
          </a:xfrm>
          <a:prstGeom prst="ellipse">
            <a:avLst/>
          </a:prstGeom>
          <a:solidFill>
            <a:srgbClr val="67E0A4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32760" rIns="54720" bIns="3276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9"/>
          <p:cNvSpPr/>
          <p:nvPr/>
        </p:nvSpPr>
        <p:spPr>
          <a:xfrm>
            <a:off x="1307520" y="4471560"/>
            <a:ext cx="306252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VM ejecutando DIL y consola</a:t>
            </a:r>
            <a:endParaRPr lang="es-CL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20"/>
          <p:cNvSpPr/>
          <p:nvPr/>
        </p:nvSpPr>
        <p:spPr>
          <a:xfrm>
            <a:off x="1069920" y="5020200"/>
            <a:ext cx="109080" cy="109080"/>
          </a:xfrm>
          <a:prstGeom prst="ellipse">
            <a:avLst/>
          </a:prstGeom>
          <a:solidFill>
            <a:srgbClr val="67E0A4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32760" rIns="54720" bIns="3276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1"/>
          <p:cNvSpPr/>
          <p:nvPr/>
        </p:nvSpPr>
        <p:spPr>
          <a:xfrm>
            <a:off x="1307520" y="4937760"/>
            <a:ext cx="306252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Errores y herramientas de depuración</a:t>
            </a:r>
            <a:endParaRPr lang="es-CL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2"/>
          <p:cNvSpPr/>
          <p:nvPr/>
        </p:nvSpPr>
        <p:spPr>
          <a:xfrm>
            <a:off x="4924080" y="1686960"/>
            <a:ext cx="6445800" cy="4324320"/>
          </a:xfrm>
          <a:prstGeom prst="roundRect">
            <a:avLst>
              <a:gd name="adj" fmla="val 2537"/>
            </a:avLst>
          </a:prstGeom>
          <a:solidFill>
            <a:srgbClr val="1B2C39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3" name="Image 0" descr="/mnt/data/directiva_ppt_work/assets/evidence/Evidencias/Capturas del Editor/editor_solucion_consola_evidencia_consola.png"/>
          <p:cNvPicPr/>
          <p:nvPr/>
        </p:nvPicPr>
        <p:blipFill>
          <a:blip r:embed="rId1"/>
          <a:stretch/>
        </p:blipFill>
        <p:spPr>
          <a:xfrm>
            <a:off x="4974480" y="2212200"/>
            <a:ext cx="6345360" cy="327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Text 23"/>
          <p:cNvSpPr/>
          <p:nvPr/>
        </p:nvSpPr>
        <p:spPr>
          <a:xfrm>
            <a:off x="4992480" y="6016680"/>
            <a:ext cx="6372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1" u="none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Prueba de primalidad en DIL: editor, salida y validación</a:t>
            </a:r>
            <a:endParaRPr lang="es-CL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0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B162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"/>
          <p:cNvSpPr/>
          <p:nvPr/>
        </p:nvSpPr>
        <p:spPr>
          <a:xfrm>
            <a:off x="640080" y="347400"/>
            <a:ext cx="383760" cy="360"/>
          </a:xfrm>
          <a:prstGeom prst="line">
            <a:avLst/>
          </a:prstGeom>
          <a:ln w="38100">
            <a:solidFill>
              <a:srgbClr val="B6E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"/>
          <p:cNvSpPr/>
          <p:nvPr/>
        </p:nvSpPr>
        <p:spPr>
          <a:xfrm>
            <a:off x="1124640" y="210240"/>
            <a:ext cx="7268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pc="130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07 / CIERRE</a:t>
            </a:r>
            <a:endParaRPr lang="es-CL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3"/>
          <p:cNvSpPr/>
          <p:nvPr/>
        </p:nvSpPr>
        <p:spPr>
          <a:xfrm>
            <a:off x="9665280" y="164520"/>
            <a:ext cx="1800720" cy="328320"/>
          </a:xfrm>
          <a:prstGeom prst="roundRect">
            <a:avLst>
              <a:gd name="adj" fmla="val 33333"/>
            </a:avLst>
          </a:prstGeom>
          <a:solidFill>
            <a:srgbClr val="213C3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4"/>
          <p:cNvSpPr/>
          <p:nvPr/>
        </p:nvSpPr>
        <p:spPr>
          <a:xfrm>
            <a:off x="9711000" y="219600"/>
            <a:ext cx="1709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pc="51" strike="noStrike">
                <a:solidFill>
                  <a:srgbClr val="B6E43B"/>
                </a:solidFill>
                <a:effectLst/>
                <a:uFillTx/>
                <a:latin typeface="Inter"/>
                <a:ea typeface="Inter"/>
              </a:rPr>
              <a:t>AMBOS</a:t>
            </a:r>
            <a:endParaRPr lang="es-CL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5"/>
          <p:cNvSpPr/>
          <p:nvPr/>
        </p:nvSpPr>
        <p:spPr>
          <a:xfrm>
            <a:off x="640080" y="6492240"/>
            <a:ext cx="10917720" cy="360"/>
          </a:xfrm>
          <a:prstGeom prst="line">
            <a:avLst/>
          </a:prstGeom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649080" y="6546960"/>
            <a:ext cx="54856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99" strike="noStrike">
                <a:solidFill>
                  <a:srgbClr val="A8BAC5"/>
                </a:solidFill>
                <a:effectLst/>
                <a:uFillTx/>
                <a:latin typeface="Inter"/>
                <a:ea typeface="Inter"/>
              </a:rPr>
              <a:t>DIRECTIVA / CAPSTONE / FASE 2</a:t>
            </a:r>
            <a:endParaRPr lang="es-CL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7"/>
          <p:cNvSpPr/>
          <p:nvPr/>
        </p:nvSpPr>
        <p:spPr>
          <a:xfrm>
            <a:off x="10707480" y="6546960"/>
            <a:ext cx="7855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A8BAC5"/>
                </a:solidFill>
                <a:effectLst/>
                <a:uFillTx/>
                <a:latin typeface="DejaVu Sans Mono"/>
                <a:ea typeface="DejaVu Sans Mono"/>
              </a:rPr>
              <a:t>10 / 10</a:t>
            </a:r>
            <a:endParaRPr lang="es-CL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8"/>
          <p:cNvSpPr/>
          <p:nvPr/>
        </p:nvSpPr>
        <p:spPr>
          <a:xfrm>
            <a:off x="640080" y="704160"/>
            <a:ext cx="108806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5F8FA"/>
                </a:solidFill>
                <a:effectLst/>
                <a:uFillTx/>
                <a:latin typeface="Inter Display"/>
                <a:ea typeface="Inter Display"/>
              </a:rPr>
              <a:t>Lo que viene</a:t>
            </a:r>
            <a:endParaRPr lang="es-CL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0"/>
          <p:cNvSpPr/>
          <p:nvPr/>
        </p:nvSpPr>
        <p:spPr>
          <a:xfrm>
            <a:off x="731520" y="1728360"/>
            <a:ext cx="5238720" cy="3602160"/>
          </a:xfrm>
          <a:prstGeom prst="roundRect">
            <a:avLst>
              <a:gd name="adj" fmla="val 3046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11"/>
          <p:cNvSpPr/>
          <p:nvPr/>
        </p:nvSpPr>
        <p:spPr>
          <a:xfrm>
            <a:off x="6217920" y="1728360"/>
            <a:ext cx="5238720" cy="3602160"/>
          </a:xfrm>
          <a:prstGeom prst="roundRect">
            <a:avLst>
              <a:gd name="adj" fmla="val 3046"/>
            </a:avLst>
          </a:prstGeom>
          <a:solidFill>
            <a:srgbClr val="172632"/>
          </a:solidFill>
          <a:ln w="12700">
            <a:solidFill>
              <a:srgbClr val="3449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2"/>
          <p:cNvSpPr/>
          <p:nvPr/>
        </p:nvSpPr>
        <p:spPr>
          <a:xfrm>
            <a:off x="1033200" y="2011680"/>
            <a:ext cx="458964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70" b="1" u="none" strike="noStrike">
                <a:solidFill>
                  <a:srgbClr val="67E0A4"/>
                </a:solidFill>
                <a:effectLst/>
                <a:uFillTx/>
                <a:latin typeface="Inter"/>
                <a:ea typeface="Inter"/>
              </a:rPr>
              <a:t>AVANCES</a:t>
            </a:r>
            <a:endParaRPr lang="es-CL" sz="23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3"/>
          <p:cNvSpPr/>
          <p:nvPr/>
        </p:nvSpPr>
        <p:spPr>
          <a:xfrm>
            <a:off x="6519600" y="2011680"/>
            <a:ext cx="46080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70" b="1" u="none" strike="noStrike">
                <a:solidFill>
                  <a:srgbClr val="FFD05C"/>
                </a:solidFill>
                <a:effectLst/>
                <a:uFillTx/>
                <a:latin typeface="Inter"/>
                <a:ea typeface="Inter"/>
              </a:rPr>
              <a:t>SIGUIENTE</a:t>
            </a:r>
            <a:endParaRPr lang="es-CL" sz="23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4"/>
          <p:cNvSpPr/>
          <p:nvPr/>
        </p:nvSpPr>
        <p:spPr>
          <a:xfrm>
            <a:off x="1051560" y="2834640"/>
            <a:ext cx="136440" cy="136440"/>
          </a:xfrm>
          <a:prstGeom prst="ellipse">
            <a:avLst/>
          </a:prstGeom>
          <a:solidFill>
            <a:srgbClr val="67E0A4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45000" rIns="6840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5"/>
          <p:cNvSpPr/>
          <p:nvPr/>
        </p:nvSpPr>
        <p:spPr>
          <a:xfrm>
            <a:off x="1325880" y="2734200"/>
            <a:ext cx="4159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Arquitectura modular</a:t>
            </a:r>
            <a:endParaRPr lang="es-CL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6"/>
          <p:cNvSpPr/>
          <p:nvPr/>
        </p:nvSpPr>
        <p:spPr>
          <a:xfrm>
            <a:off x="1051560" y="3392280"/>
            <a:ext cx="136440" cy="136440"/>
          </a:xfrm>
          <a:prstGeom prst="ellipse">
            <a:avLst/>
          </a:prstGeom>
          <a:solidFill>
            <a:srgbClr val="67E0A4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45000" rIns="6840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7"/>
          <p:cNvSpPr/>
          <p:nvPr/>
        </p:nvSpPr>
        <p:spPr>
          <a:xfrm>
            <a:off x="1325880" y="3291840"/>
            <a:ext cx="4159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Editor y menús</a:t>
            </a:r>
            <a:endParaRPr lang="es-CL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8"/>
          <p:cNvSpPr/>
          <p:nvPr/>
        </p:nvSpPr>
        <p:spPr>
          <a:xfrm>
            <a:off x="1051560" y="3950280"/>
            <a:ext cx="136440" cy="136440"/>
          </a:xfrm>
          <a:prstGeom prst="ellipse">
            <a:avLst/>
          </a:prstGeom>
          <a:solidFill>
            <a:srgbClr val="67E0A4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45000" rIns="6840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9"/>
          <p:cNvSpPr/>
          <p:nvPr/>
        </p:nvSpPr>
        <p:spPr>
          <a:xfrm>
            <a:off x="1325880" y="3849480"/>
            <a:ext cx="4159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Parser DIL y VM</a:t>
            </a:r>
            <a:endParaRPr lang="es-CL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20"/>
          <p:cNvSpPr/>
          <p:nvPr/>
        </p:nvSpPr>
        <p:spPr>
          <a:xfrm>
            <a:off x="1051560" y="4507920"/>
            <a:ext cx="136440" cy="136440"/>
          </a:xfrm>
          <a:prstGeom prst="ellipse">
            <a:avLst/>
          </a:prstGeom>
          <a:solidFill>
            <a:srgbClr val="67E0A4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45000" rIns="6840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1"/>
          <p:cNvSpPr/>
          <p:nvPr/>
        </p:nvSpPr>
        <p:spPr>
          <a:xfrm>
            <a:off x="1325880" y="4407480"/>
            <a:ext cx="4159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Pruebas técnicas</a:t>
            </a:r>
            <a:endParaRPr lang="es-CL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22"/>
          <p:cNvSpPr/>
          <p:nvPr/>
        </p:nvSpPr>
        <p:spPr>
          <a:xfrm>
            <a:off x="6519600" y="2834640"/>
            <a:ext cx="136440" cy="136440"/>
          </a:xfrm>
          <a:prstGeom prst="ellipse">
            <a:avLst/>
          </a:prstGeom>
          <a:solidFill>
            <a:srgbClr val="FFD05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45000" rIns="6840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3"/>
          <p:cNvSpPr/>
          <p:nvPr/>
        </p:nvSpPr>
        <p:spPr>
          <a:xfrm>
            <a:off x="6793920" y="2734200"/>
            <a:ext cx="4260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79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Compilador DScript a DIL</a:t>
            </a:r>
            <a:endParaRPr lang="es-CL" sz="16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24"/>
          <p:cNvSpPr/>
          <p:nvPr/>
        </p:nvSpPr>
        <p:spPr>
          <a:xfrm>
            <a:off x="6519600" y="3392280"/>
            <a:ext cx="136440" cy="136440"/>
          </a:xfrm>
          <a:prstGeom prst="ellipse">
            <a:avLst/>
          </a:prstGeom>
          <a:solidFill>
            <a:srgbClr val="FFD05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45000" rIns="6840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5"/>
          <p:cNvSpPr/>
          <p:nvPr/>
        </p:nvSpPr>
        <p:spPr>
          <a:xfrm>
            <a:off x="6793920" y="3291840"/>
            <a:ext cx="4260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79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Completar memoria y tipos</a:t>
            </a:r>
            <a:endParaRPr lang="es-CL" sz="16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26"/>
          <p:cNvSpPr/>
          <p:nvPr/>
        </p:nvSpPr>
        <p:spPr>
          <a:xfrm>
            <a:off x="6519600" y="3950280"/>
            <a:ext cx="136440" cy="136440"/>
          </a:xfrm>
          <a:prstGeom prst="ellipse">
            <a:avLst/>
          </a:prstGeom>
          <a:solidFill>
            <a:srgbClr val="FFD05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45000" rIns="6840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7"/>
          <p:cNvSpPr/>
          <p:nvPr/>
        </p:nvSpPr>
        <p:spPr>
          <a:xfrm>
            <a:off x="6793920" y="3849480"/>
            <a:ext cx="4260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79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Unidades, Nexo y simulación</a:t>
            </a:r>
            <a:endParaRPr lang="es-CL" sz="16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28"/>
          <p:cNvSpPr/>
          <p:nvPr/>
        </p:nvSpPr>
        <p:spPr>
          <a:xfrm>
            <a:off x="6519600" y="4507920"/>
            <a:ext cx="136440" cy="136440"/>
          </a:xfrm>
          <a:prstGeom prst="ellipse">
            <a:avLst/>
          </a:prstGeom>
          <a:solidFill>
            <a:srgbClr val="FFD05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45000" rIns="68400" bIns="45000" anchor="t">
            <a:noAutofit/>
          </a:bodyPr>
          <a:p>
            <a:pPr/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9"/>
          <p:cNvSpPr/>
          <p:nvPr/>
        </p:nvSpPr>
        <p:spPr>
          <a:xfrm>
            <a:off x="6793920" y="4407480"/>
            <a:ext cx="4260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79" b="0" u="none" strike="noStrike">
                <a:solidFill>
                  <a:srgbClr val="D3DCE3"/>
                </a:solidFill>
                <a:effectLst/>
                <a:uFillTx/>
                <a:latin typeface="Inter"/>
                <a:ea typeface="Inter"/>
              </a:rPr>
              <a:t>Playtests con versión jugable</a:t>
            </a:r>
            <a:endParaRPr lang="es-CL" sz="16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30"/>
          <p:cNvSpPr/>
          <p:nvPr/>
        </p:nvSpPr>
        <p:spPr>
          <a:xfrm>
            <a:off x="777240" y="5650920"/>
            <a:ext cx="10615320" cy="547920"/>
          </a:xfrm>
          <a:prstGeom prst="roundRect">
            <a:avLst>
              <a:gd name="adj" fmla="val 20000"/>
            </a:avLst>
          </a:prstGeom>
          <a:solidFill>
            <a:srgbClr val="203F38"/>
          </a:solidFill>
          <a:ln w="12700">
            <a:solidFill>
              <a:srgbClr val="3F6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31"/>
          <p:cNvSpPr/>
          <p:nvPr/>
        </p:nvSpPr>
        <p:spPr>
          <a:xfrm>
            <a:off x="951120" y="5779080"/>
            <a:ext cx="1024956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60" b="1" u="none" spc="26" strike="noStrike">
                <a:solidFill>
                  <a:srgbClr val="F5F8FA"/>
                </a:solidFill>
                <a:effectLst/>
                <a:uFillTx/>
                <a:latin typeface="Inter"/>
                <a:ea typeface="Inter"/>
              </a:rPr>
              <a:t>PROGRAMAR   /   EJECUTAR   /   OBSERVAR   /   MEJORAR</a:t>
            </a:r>
            <a:endParaRPr lang="es-CL" sz="1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LibreOffice/26.8.0.3$Windows_X86_64 LibreOffice_project/bce0998afefdbc355585ca324285661a2170ba77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2026-10-14T21:21:04Z</dcterms:created>
  <dc:creator>Equipo Apeiron</dc:creator>
  <dc:description/>
  <dc:language>es-CL</dc:language>
  <cp:lastModifiedBy/>
  <dcterms:modified xsi:type="dcterms:W3CDTF">2026-10-14T18:36:33Z</dcterms:modified>
  <cp:revision>3</cp:revision>
  <dc:subject>Avance Fase 2</dc:subject>
  <dc:title>Directiva | Avances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